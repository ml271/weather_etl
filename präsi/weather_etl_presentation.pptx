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UYSqG+pWQ2w4zRPsEyfPVdMFa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111178cd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111178cdb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11178cd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111178cd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111178cd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111178cd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111178cd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111178cdb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111178cd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d111178cdb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ETL System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371600" y="2560320"/>
            <a:ext cx="94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 real-time weather data pipeline with dashboarding </a:t>
            </a:r>
            <a:r>
              <a:rPr lang="en-US" sz="2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sz="2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automated alerts </a:t>
            </a:r>
            <a:endParaRPr sz="1800"/>
          </a:p>
        </p:txBody>
      </p:sp>
      <p:sp>
        <p:nvSpPr>
          <p:cNvPr id="87" name="Google Shape;87;p1"/>
          <p:cNvSpPr/>
          <p:nvPr/>
        </p:nvSpPr>
        <p:spPr>
          <a:xfrm>
            <a:off x="1088136" y="3200400"/>
            <a:ext cx="1554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8813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2779776" y="3200400"/>
            <a:ext cx="1554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77977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471416" y="3200400"/>
            <a:ext cx="1554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47141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163056" y="3200400"/>
            <a:ext cx="1554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16305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7854696" y="3200400"/>
            <a:ext cx="1554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85469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9546336" y="3200400"/>
            <a:ext cx="1554480" cy="347472"/>
          </a:xfrm>
          <a:prstGeom prst="rect">
            <a:avLst/>
          </a:prstGeom>
          <a:solidFill>
            <a:srgbClr val="1A362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546336" y="32461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Open-Meteo API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3657600" y="3840480"/>
            <a:ext cx="4873752" cy="100584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57600" y="3977639"/>
            <a:ext cx="4873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Marvin Lorff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3657600" y="4389125"/>
            <a:ext cx="487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neuefische · Data Engineering Bootcamp · Capstone Project</a:t>
            </a:r>
            <a:endParaRPr sz="1800"/>
          </a:p>
        </p:txBody>
      </p:sp>
      <p:sp>
        <p:nvSpPr>
          <p:cNvPr id="102" name="Google Shape;102;p1"/>
          <p:cNvSpPr txBox="1"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C7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Weather ETL?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43450" y="1756907"/>
            <a:ext cx="1127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An end-to-end data engineering project that automatically fetches, processes, and stores weather forecasts — and notifies users when their custom alert conditions are met.</a:t>
            </a:r>
            <a:endParaRPr sz="2100"/>
          </a:p>
        </p:txBody>
      </p:sp>
      <p:sp>
        <p:nvSpPr>
          <p:cNvPr id="112" name="Google Shape;112;p2"/>
          <p:cNvSpPr/>
          <p:nvPr/>
        </p:nvSpPr>
        <p:spPr>
          <a:xfrm>
            <a:off x="457163" y="3503469"/>
            <a:ext cx="2560200" cy="10059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57163" y="3549190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57188" y="3853450"/>
            <a:ext cx="25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~75 Cities</a:t>
            </a:r>
            <a:endParaRPr sz="1800"/>
          </a:p>
        </p:txBody>
      </p:sp>
      <p:sp>
        <p:nvSpPr>
          <p:cNvPr id="115" name="Google Shape;115;p2"/>
          <p:cNvSpPr txBox="1"/>
          <p:nvPr/>
        </p:nvSpPr>
        <p:spPr>
          <a:xfrm>
            <a:off x="457163" y="412777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Germany, Austria &amp; Switzerland</a:t>
            </a:r>
            <a:endParaRPr sz="1800"/>
          </a:p>
        </p:txBody>
      </p:sp>
      <p:sp>
        <p:nvSpPr>
          <p:cNvPr id="116" name="Google Shape;116;p2"/>
          <p:cNvSpPr/>
          <p:nvPr/>
        </p:nvSpPr>
        <p:spPr>
          <a:xfrm>
            <a:off x="3218651" y="3503469"/>
            <a:ext cx="2560200" cy="10059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218651" y="3549190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⏱️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3218676" y="3853450"/>
            <a:ext cx="25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Hourly Runs</a:t>
            </a:r>
            <a:endParaRPr sz="1800"/>
          </a:p>
        </p:txBody>
      </p:sp>
      <p:sp>
        <p:nvSpPr>
          <p:cNvPr id="119" name="Google Shape;119;p2"/>
          <p:cNvSpPr txBox="1"/>
          <p:nvPr/>
        </p:nvSpPr>
        <p:spPr>
          <a:xfrm>
            <a:off x="3218651" y="418927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Automated pipeline schedule</a:t>
            </a:r>
            <a:endParaRPr sz="1700"/>
          </a:p>
        </p:txBody>
      </p:sp>
      <p:sp>
        <p:nvSpPr>
          <p:cNvPr id="120" name="Google Shape;120;p2"/>
          <p:cNvSpPr/>
          <p:nvPr/>
        </p:nvSpPr>
        <p:spPr>
          <a:xfrm>
            <a:off x="5980139" y="3503469"/>
            <a:ext cx="2560200" cy="10059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5980139" y="3549190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980164" y="3853450"/>
            <a:ext cx="25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7-Day Forecast</a:t>
            </a:r>
            <a:endParaRPr sz="1800"/>
          </a:p>
        </p:txBody>
      </p:sp>
      <p:sp>
        <p:nvSpPr>
          <p:cNvPr id="123" name="Google Shape;123;p2"/>
          <p:cNvSpPr txBox="1"/>
          <p:nvPr/>
        </p:nvSpPr>
        <p:spPr>
          <a:xfrm>
            <a:off x="5980150" y="4197075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Daily + hourly data</a:t>
            </a:r>
            <a:endParaRPr sz="1700"/>
          </a:p>
        </p:txBody>
      </p:sp>
      <p:sp>
        <p:nvSpPr>
          <p:cNvPr id="124" name="Google Shape;124;p2"/>
          <p:cNvSpPr/>
          <p:nvPr/>
        </p:nvSpPr>
        <p:spPr>
          <a:xfrm>
            <a:off x="8741627" y="3503469"/>
            <a:ext cx="2560200" cy="10059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8741627" y="3549190"/>
            <a:ext cx="25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741627" y="3914950"/>
            <a:ext cx="25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Custom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Alerts</a:t>
            </a:r>
            <a:endParaRPr sz="1700"/>
          </a:p>
        </p:txBody>
      </p:sp>
      <p:sp>
        <p:nvSpPr>
          <p:cNvPr id="127" name="Google Shape;127;p2"/>
          <p:cNvSpPr txBox="1"/>
          <p:nvPr/>
        </p:nvSpPr>
        <p:spPr>
          <a:xfrm>
            <a:off x="8741652" y="4189420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Triggered </a:t>
            </a:r>
            <a:r>
              <a:rPr lang="en-US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by weather conditions</a:t>
            </a:r>
            <a:endParaRPr sz="1800"/>
          </a:p>
        </p:txBody>
      </p:sp>
      <p:sp>
        <p:nvSpPr>
          <p:cNvPr id="128" name="Google Shape;128;p2"/>
          <p:cNvSpPr txBox="1"/>
          <p:nvPr/>
        </p:nvSpPr>
        <p:spPr>
          <a:xfrm>
            <a:off x="3218650" y="2736625"/>
            <a:ext cx="555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Weather forecast data visualisation</a:t>
            </a:r>
            <a:endParaRPr sz="2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11178cdb_0_64"/>
          <p:cNvSpPr txBox="1"/>
          <p:nvPr/>
        </p:nvSpPr>
        <p:spPr>
          <a:xfrm>
            <a:off x="457200" y="22860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34" name="Google Shape;134;g3d111178cdb_0_64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is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Weather ETL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useful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35" name="Google Shape;135;g3d111178cdb_0_64"/>
          <p:cNvSpPr/>
          <p:nvPr/>
        </p:nvSpPr>
        <p:spPr>
          <a:xfrm>
            <a:off x="457200" y="1115568"/>
            <a:ext cx="11274600" cy="126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111178cdb_0_64"/>
          <p:cNvSpPr txBox="1"/>
          <p:nvPr/>
        </p:nvSpPr>
        <p:spPr>
          <a:xfrm>
            <a:off x="457200" y="1188720"/>
            <a:ext cx="112746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400"/>
              <a:buFont typeface="Calibri"/>
              <a:buChar char="-"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 - weather data</a:t>
            </a: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	clean and scientific hourly weather forecast ( my </a:t>
            </a: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preference </a:t>
            </a: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b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400"/>
              <a:buFont typeface="Calibri"/>
              <a:buChar char="-"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weather warnings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examples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danger of flooding from excessive rainfall</a:t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-&gt; notifications if </a:t>
            </a:r>
            <a:r>
              <a:rPr b="1"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rainfall exceeds a critical threshold</a:t>
            </a:r>
            <a:endParaRPr b="1"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planting seeds in the garten</a:t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		-&gt; notifications if there is </a:t>
            </a:r>
            <a:r>
              <a:rPr b="1"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freezing soil temperature</a:t>
            </a: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 in spring</a:t>
            </a:r>
            <a:b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planning a weekend adventure (cycling, climbing, outdoor activities)</a:t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		-&gt; notification if weather is </a:t>
            </a:r>
            <a:r>
              <a:rPr b="1" lang="en-US" sz="24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warm and sunny on weekends</a:t>
            </a:r>
            <a:endParaRPr b="1"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0A4A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it look like ?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&amp; Features</a:t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94375" y="381026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Station Search</a:t>
            </a:r>
            <a:endParaRPr/>
          </a:p>
        </p:txBody>
      </p:sp>
      <p:pic>
        <p:nvPicPr>
          <p:cNvPr descr="Screenshot 2026-03-19 092656.png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5352" y="1332622"/>
            <a:ext cx="5486402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6245352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Weather Dashboard</a:t>
            </a:r>
            <a:endParaRPr/>
          </a:p>
        </p:txBody>
      </p:sp>
      <p:pic>
        <p:nvPicPr>
          <p:cNvPr descr="Screenshot 2026-03-19 092752.png" id="147" name="Google Shape;1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927" y="4091925"/>
            <a:ext cx="2773523" cy="24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457200" y="6766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Warning Builder</a:t>
            </a:r>
            <a:endParaRPr/>
          </a:p>
        </p:txBody>
      </p:sp>
      <p:pic>
        <p:nvPicPr>
          <p:cNvPr descr="Screenshot 2026-03-19 092809.png" id="149" name="Google Shape;14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5175" y="4085663"/>
            <a:ext cx="2886649" cy="24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/>
        </p:nvSpPr>
        <p:spPr>
          <a:xfrm>
            <a:off x="6245352" y="6766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Active Warnings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3337510" y="6583685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 </a:t>
            </a: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and login</a:t>
            </a:r>
            <a:endParaRPr/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3600" y="1326005"/>
            <a:ext cx="3253588" cy="237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11178cdb_0_4"/>
          <p:cNvSpPr txBox="1"/>
          <p:nvPr/>
        </p:nvSpPr>
        <p:spPr>
          <a:xfrm>
            <a:off x="457200" y="22860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158" name="Google Shape;158;g3d111178cdb_0_4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forecast diagramm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59" name="Google Shape;159;g3d111178cdb_0_4"/>
          <p:cNvSpPr/>
          <p:nvPr/>
        </p:nvSpPr>
        <p:spPr>
          <a:xfrm>
            <a:off x="457200" y="1115568"/>
            <a:ext cx="11274600" cy="126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111178cdb_0_4"/>
          <p:cNvSpPr txBox="1"/>
          <p:nvPr/>
        </p:nvSpPr>
        <p:spPr>
          <a:xfrm>
            <a:off x="457200" y="676656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Warning Builder</a:t>
            </a:r>
            <a:endParaRPr/>
          </a:p>
        </p:txBody>
      </p:sp>
      <p:sp>
        <p:nvSpPr>
          <p:cNvPr id="161" name="Google Shape;161;g3d111178cdb_0_4"/>
          <p:cNvSpPr txBox="1"/>
          <p:nvPr/>
        </p:nvSpPr>
        <p:spPr>
          <a:xfrm>
            <a:off x="6245352" y="676656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Active Warnings</a:t>
            </a:r>
            <a:endParaRPr/>
          </a:p>
        </p:txBody>
      </p:sp>
      <p:pic>
        <p:nvPicPr>
          <p:cNvPr id="162" name="Google Shape;162;g3d111178cdb_0_4" title="hourly-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325" y="228600"/>
            <a:ext cx="5953559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d111178cdb_0_4"/>
          <p:cNvSpPr txBox="1"/>
          <p:nvPr/>
        </p:nvSpPr>
        <p:spPr>
          <a:xfrm>
            <a:off x="764275" y="1792600"/>
            <a:ext cx="42843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scientific weather diagramm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hourly data diagramm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lines and barplots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includes 4 days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(96 h)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weather forecast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also includes soil-moisture and soil-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111178cdb_0_20"/>
          <p:cNvSpPr txBox="1"/>
          <p:nvPr/>
        </p:nvSpPr>
        <p:spPr>
          <a:xfrm>
            <a:off x="457200" y="22860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169" name="Google Shape;169;g3d111178cdb_0_20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Warning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Configurator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111178cdb_0_20"/>
          <p:cNvSpPr/>
          <p:nvPr/>
        </p:nvSpPr>
        <p:spPr>
          <a:xfrm>
            <a:off x="457200" y="1115568"/>
            <a:ext cx="11274600" cy="126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d111178cdb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568"/>
            <a:ext cx="11361858" cy="5425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457225" y="1280144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594385" y="1450929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Apache Airflow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594385" y="1991747"/>
            <a:ext cx="338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Pipeline orchestration · DAG scheduling · XCom data passing · Retry logic</a:t>
            </a:r>
            <a:endParaRPr sz="2300"/>
          </a:p>
        </p:txBody>
      </p:sp>
      <p:sp>
        <p:nvSpPr>
          <p:cNvPr id="182" name="Google Shape;182;p3"/>
          <p:cNvSpPr/>
          <p:nvPr/>
        </p:nvSpPr>
        <p:spPr>
          <a:xfrm>
            <a:off x="4353150" y="1280145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4453149" y="1450929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PostgreSQL 15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4453149" y="1991747"/>
            <a:ext cx="338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Primary datastore · 6 tables · JSONB conditions · UPSERT pattern</a:t>
            </a:r>
            <a:endParaRPr sz="2000"/>
          </a:p>
        </p:txBody>
      </p:sp>
      <p:sp>
        <p:nvSpPr>
          <p:cNvPr id="185" name="Google Shape;185;p3"/>
          <p:cNvSpPr/>
          <p:nvPr/>
        </p:nvSpPr>
        <p:spPr>
          <a:xfrm>
            <a:off x="8174725" y="1280145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8311913" y="1450929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FastAPI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8249071" y="2081385"/>
            <a:ext cx="338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REST API · JWT auth · 18 endpoints · SQLAlchemy ORM</a:t>
            </a:r>
            <a:endParaRPr sz="2000"/>
          </a:p>
        </p:txBody>
      </p:sp>
      <p:sp>
        <p:nvSpPr>
          <p:cNvPr id="188" name="Google Shape;188;p3"/>
          <p:cNvSpPr/>
          <p:nvPr/>
        </p:nvSpPr>
        <p:spPr>
          <a:xfrm>
            <a:off x="457225" y="3386489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594385" y="3557274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Nginx + JS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594385" y="4098092"/>
            <a:ext cx="338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Static frontend · Station search · Chart.js dashboard</a:t>
            </a:r>
            <a:endParaRPr sz="2000"/>
          </a:p>
        </p:txBody>
      </p:sp>
      <p:sp>
        <p:nvSpPr>
          <p:cNvPr id="191" name="Google Shape;191;p3"/>
          <p:cNvSpPr/>
          <p:nvPr/>
        </p:nvSpPr>
        <p:spPr>
          <a:xfrm>
            <a:off x="4315989" y="3386489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4453149" y="3557274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🐳 Docker Compose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4453149" y="4098092"/>
            <a:ext cx="338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 services · Isolated containers · Single-command deployment</a:t>
            </a:r>
            <a:endParaRPr sz="2000"/>
          </a:p>
        </p:txBody>
      </p:sp>
      <p:sp>
        <p:nvSpPr>
          <p:cNvPr id="194" name="Google Shape;194;p3"/>
          <p:cNvSpPr/>
          <p:nvPr/>
        </p:nvSpPr>
        <p:spPr>
          <a:xfrm>
            <a:off x="8174754" y="3386489"/>
            <a:ext cx="3657600" cy="18501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8311913" y="3557274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🌤️ Open-Meteo API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8311913" y="4098092"/>
            <a:ext cx="338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Free · No API key required · 7-day forecast · Daily + hourly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Network Architecture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457200" y="1188720"/>
            <a:ext cx="11274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All 6 services run in a single Docker Compose stack — one command to deploy everything.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57200" y="16002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566928" y="16916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1097280" y="17099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Nginx Frontend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1097280" y="20025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:80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566928" y="22585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Static HTML/JS · Station search · Dashboard</a:t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4315968" y="16002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4425696" y="16916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4956048" y="17099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4956048" y="20025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:8000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4425696" y="22585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REST API · JWT Auth · SQLAlchemy ORM</a:t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8174736" y="16002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8284464" y="16916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8814816" y="17099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15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8814816" y="20025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:5432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8284464" y="22585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Primary datastore · Persistent volume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457200" y="29718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566928" y="30632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097280" y="30815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 Webserver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1097280" y="33741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:8080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566928" y="36301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DAG monitoring · Run history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315968" y="29718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4425696" y="30632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🕐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4956048" y="30815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Airflow Scheduler</a:t>
            </a:r>
            <a:endParaRPr/>
          </a:p>
        </p:txBody>
      </p:sp>
      <p:sp>
        <p:nvSpPr>
          <p:cNvPr id="228" name="Google Shape;228;p12"/>
          <p:cNvSpPr txBox="1"/>
          <p:nvPr/>
        </p:nvSpPr>
        <p:spPr>
          <a:xfrm>
            <a:off x="4956048" y="33741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4425696" y="36301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DAG execution · Retry policy</a:t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174736" y="2971800"/>
            <a:ext cx="3657600" cy="11887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8284464" y="30632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📬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8814816" y="308152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Mailhog / SMTP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8814816" y="337413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:1025 / :8025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8284464" y="3630168"/>
            <a:ext cx="3438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SMTP catch-all · Email preview UI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57200" y="6309360"/>
            <a:ext cx="11274552" cy="347472"/>
          </a:xfrm>
          <a:prstGeom prst="rect">
            <a:avLst/>
          </a:prstGeom>
          <a:solidFill>
            <a:srgbClr val="1222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594360" y="6364224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All services share one internal Docker network  ·  Secrets via .env  ·  Backend runs as non-root user  ·  Data persisted in named volumes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111178cdb_0_114"/>
          <p:cNvSpPr txBox="1"/>
          <p:nvPr/>
        </p:nvSpPr>
        <p:spPr>
          <a:xfrm>
            <a:off x="457200" y="22860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242" name="Google Shape;242;g3d111178cdb_0_114"/>
          <p:cNvSpPr txBox="1"/>
          <p:nvPr/>
        </p:nvSpPr>
        <p:spPr>
          <a:xfrm>
            <a:off x="470975" y="459300"/>
            <a:ext cx="1124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Airflow Dags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243" name="Google Shape;243;g3d111178cdb_0_114"/>
          <p:cNvSpPr/>
          <p:nvPr/>
        </p:nvSpPr>
        <p:spPr>
          <a:xfrm>
            <a:off x="457200" y="1115568"/>
            <a:ext cx="11274600" cy="126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111178cdb_0_154"/>
          <p:cNvSpPr txBox="1"/>
          <p:nvPr/>
        </p:nvSpPr>
        <p:spPr>
          <a:xfrm>
            <a:off x="457200" y="22860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249" name="Google Shape;249;g3d111178cdb_0_154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Network Architecture</a:t>
            </a:r>
            <a:endParaRPr/>
          </a:p>
        </p:txBody>
      </p:sp>
      <p:sp>
        <p:nvSpPr>
          <p:cNvPr id="250" name="Google Shape;250;g3d111178cdb_0_154"/>
          <p:cNvSpPr/>
          <p:nvPr/>
        </p:nvSpPr>
        <p:spPr>
          <a:xfrm>
            <a:off x="457200" y="1115568"/>
            <a:ext cx="11274600" cy="126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g3d111178cdb_0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95525"/>
            <a:ext cx="11330449" cy="601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ETL PIPELINE</a:t>
            </a:r>
            <a:endParaRPr/>
          </a:p>
        </p:txBody>
      </p:sp>
      <p:sp>
        <p:nvSpPr>
          <p:cNvPr id="257" name="Google Shape;257;p4"/>
          <p:cNvSpPr txBox="1"/>
          <p:nvPr/>
        </p:nvSpPr>
        <p:spPr>
          <a:xfrm>
            <a:off x="457200" y="457200"/>
            <a:ext cx="1124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ETL Pipeline </a:t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457200" y="1234440"/>
            <a:ext cx="5394960" cy="123444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594360" y="12984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DAG 1 — weather_etl  (every 2h)</a:t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640080" y="1627632"/>
            <a:ext cx="1188720" cy="594360"/>
          </a:xfrm>
          <a:prstGeom prst="rect">
            <a:avLst/>
          </a:prstGeom>
          <a:solidFill>
            <a:srgbClr val="1222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 txBox="1"/>
          <p:nvPr/>
        </p:nvSpPr>
        <p:spPr>
          <a:xfrm>
            <a:off x="64008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/>
          </a:p>
        </p:txBody>
      </p:sp>
      <p:sp>
        <p:nvSpPr>
          <p:cNvPr id="263" name="Google Shape;263;p4"/>
          <p:cNvSpPr txBox="1"/>
          <p:nvPr/>
        </p:nvSpPr>
        <p:spPr>
          <a:xfrm>
            <a:off x="64008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/>
          </a:p>
        </p:txBody>
      </p:sp>
      <p:sp>
        <p:nvSpPr>
          <p:cNvPr id="264" name="Google Shape;264;p4"/>
          <p:cNvSpPr txBox="1"/>
          <p:nvPr/>
        </p:nvSpPr>
        <p:spPr>
          <a:xfrm>
            <a:off x="1828800" y="17647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2194560" y="1627632"/>
            <a:ext cx="1188720" cy="594360"/>
          </a:xfrm>
          <a:prstGeom prst="rect">
            <a:avLst/>
          </a:prstGeom>
          <a:solidFill>
            <a:srgbClr val="1222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 txBox="1"/>
          <p:nvPr/>
        </p:nvSpPr>
        <p:spPr>
          <a:xfrm>
            <a:off x="219456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/>
          </a:p>
        </p:txBody>
      </p:sp>
      <p:sp>
        <p:nvSpPr>
          <p:cNvPr id="267" name="Google Shape;267;p4"/>
          <p:cNvSpPr txBox="1"/>
          <p:nvPr/>
        </p:nvSpPr>
        <p:spPr>
          <a:xfrm>
            <a:off x="219456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/>
          </a:p>
        </p:txBody>
      </p:sp>
      <p:sp>
        <p:nvSpPr>
          <p:cNvPr id="268" name="Google Shape;268;p4"/>
          <p:cNvSpPr txBox="1"/>
          <p:nvPr/>
        </p:nvSpPr>
        <p:spPr>
          <a:xfrm>
            <a:off x="3383280" y="17647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3749040" y="1627632"/>
            <a:ext cx="1188720" cy="594360"/>
          </a:xfrm>
          <a:prstGeom prst="rect">
            <a:avLst/>
          </a:prstGeom>
          <a:solidFill>
            <a:srgbClr val="122238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 txBox="1"/>
          <p:nvPr/>
        </p:nvSpPr>
        <p:spPr>
          <a:xfrm>
            <a:off x="374904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/>
          </a:p>
        </p:txBody>
      </p:sp>
      <p:sp>
        <p:nvSpPr>
          <p:cNvPr id="271" name="Google Shape;271;p4"/>
          <p:cNvSpPr txBox="1"/>
          <p:nvPr/>
        </p:nvSpPr>
        <p:spPr>
          <a:xfrm>
            <a:off x="374904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6336792" y="1234440"/>
            <a:ext cx="5394960" cy="123444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6473952" y="12984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DAG 2 — check_warnings  (every 1h)</a:t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6537960" y="1627632"/>
            <a:ext cx="1188720" cy="594360"/>
          </a:xfrm>
          <a:prstGeom prst="rect">
            <a:avLst/>
          </a:prstGeom>
          <a:solidFill>
            <a:srgbClr val="122822"/>
          </a:solidFill>
          <a:ln cap="flat" cmpd="sng" w="12700">
            <a:solidFill>
              <a:srgbClr val="2A4F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 txBox="1"/>
          <p:nvPr/>
        </p:nvSpPr>
        <p:spPr>
          <a:xfrm>
            <a:off x="653796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/>
          </a:p>
        </p:txBody>
      </p:sp>
      <p:sp>
        <p:nvSpPr>
          <p:cNvPr id="276" name="Google Shape;276;p4"/>
          <p:cNvSpPr txBox="1"/>
          <p:nvPr/>
        </p:nvSpPr>
        <p:spPr>
          <a:xfrm>
            <a:off x="653796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Read DB</a:t>
            </a:r>
            <a:endParaRPr/>
          </a:p>
        </p:txBody>
      </p:sp>
      <p:sp>
        <p:nvSpPr>
          <p:cNvPr id="277" name="Google Shape;277;p4"/>
          <p:cNvSpPr txBox="1"/>
          <p:nvPr/>
        </p:nvSpPr>
        <p:spPr>
          <a:xfrm>
            <a:off x="7726680" y="17647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8092440" y="1627632"/>
            <a:ext cx="1188720" cy="594360"/>
          </a:xfrm>
          <a:prstGeom prst="rect">
            <a:avLst/>
          </a:prstGeom>
          <a:solidFill>
            <a:srgbClr val="122822"/>
          </a:solidFill>
          <a:ln cap="flat" cmpd="sng" w="12700">
            <a:solidFill>
              <a:srgbClr val="2A4F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809244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/>
          </a:p>
        </p:txBody>
      </p:sp>
      <p:sp>
        <p:nvSpPr>
          <p:cNvPr id="280" name="Google Shape;280;p4"/>
          <p:cNvSpPr txBox="1"/>
          <p:nvPr/>
        </p:nvSpPr>
        <p:spPr>
          <a:xfrm>
            <a:off x="809244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/>
          </a:p>
        </p:txBody>
      </p:sp>
      <p:sp>
        <p:nvSpPr>
          <p:cNvPr id="281" name="Google Shape;281;p4"/>
          <p:cNvSpPr txBox="1"/>
          <p:nvPr/>
        </p:nvSpPr>
        <p:spPr>
          <a:xfrm>
            <a:off x="9281160" y="17647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9646920" y="1627632"/>
            <a:ext cx="1188720" cy="594360"/>
          </a:xfrm>
          <a:prstGeom prst="rect">
            <a:avLst/>
          </a:prstGeom>
          <a:solidFill>
            <a:srgbClr val="122822"/>
          </a:solidFill>
          <a:ln cap="flat" cmpd="sng" w="12700">
            <a:solidFill>
              <a:srgbClr val="2A4F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9646920" y="16459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/>
          </a:p>
        </p:txBody>
      </p:sp>
      <p:sp>
        <p:nvSpPr>
          <p:cNvPr id="284" name="Google Shape;284;p4"/>
          <p:cNvSpPr txBox="1"/>
          <p:nvPr/>
        </p:nvSpPr>
        <p:spPr>
          <a:xfrm>
            <a:off x="9646920" y="19202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Notify</a:t>
            </a: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457200" y="2651741"/>
            <a:ext cx="3657600" cy="33807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 txBox="1"/>
          <p:nvPr/>
        </p:nvSpPr>
        <p:spPr>
          <a:xfrm>
            <a:off x="594360" y="27432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87" name="Google Shape;287;p4"/>
          <p:cNvSpPr txBox="1"/>
          <p:nvPr/>
        </p:nvSpPr>
        <p:spPr>
          <a:xfrm>
            <a:off x="1115568" y="285292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/>
          </a:p>
        </p:txBody>
      </p:sp>
      <p:sp>
        <p:nvSpPr>
          <p:cNvPr id="288" name="Google Shape;288;p4"/>
          <p:cNvSpPr txBox="1"/>
          <p:nvPr/>
        </p:nvSpPr>
        <p:spPr>
          <a:xfrm>
            <a:off x="594360" y="3310128"/>
            <a:ext cx="3383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GET api.open-meteo.com </a:t>
            </a:r>
            <a:b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with lat/lon. </a:t>
            </a:r>
            <a:b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Returns 7-day daily (10 vars) + 168h hourly (17 vars incl. soil data). </a:t>
            </a:r>
            <a:b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Raw JSON pushed to Airflow XCom</a:t>
            </a: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4315975" y="2651741"/>
            <a:ext cx="3657600" cy="33435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 txBox="1"/>
          <p:nvPr/>
        </p:nvSpPr>
        <p:spPr>
          <a:xfrm>
            <a:off x="4453128" y="27432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291" name="Google Shape;291;p4"/>
          <p:cNvSpPr txBox="1"/>
          <p:nvPr/>
        </p:nvSpPr>
        <p:spPr>
          <a:xfrm>
            <a:off x="4974336" y="285292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/>
          </a:p>
        </p:txBody>
      </p:sp>
      <p:sp>
        <p:nvSpPr>
          <p:cNvPr id="292" name="Google Shape;292;p4"/>
          <p:cNvSpPr txBox="1"/>
          <p:nvPr/>
        </p:nvSpPr>
        <p:spPr>
          <a:xfrm>
            <a:off x="4453128" y="3310128"/>
            <a:ext cx="3383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API arrays unpacked into flat row dicts. </a:t>
            </a:r>
            <a:b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WMO codes mapped to descriptions.</a:t>
            </a:r>
            <a:br>
              <a:rPr lang="en-US" sz="2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Alert rules from YAML evaluated with AND logic against daily records.</a:t>
            </a:r>
            <a:endParaRPr sz="2400"/>
          </a:p>
        </p:txBody>
      </p:sp>
      <p:sp>
        <p:nvSpPr>
          <p:cNvPr id="293" name="Google Shape;293;p4"/>
          <p:cNvSpPr/>
          <p:nvPr/>
        </p:nvSpPr>
        <p:spPr>
          <a:xfrm>
            <a:off x="8174725" y="2651741"/>
            <a:ext cx="3657600" cy="33435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 txBox="1"/>
          <p:nvPr/>
        </p:nvSpPr>
        <p:spPr>
          <a:xfrm>
            <a:off x="8311896" y="27432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295" name="Google Shape;295;p4"/>
          <p:cNvSpPr txBox="1"/>
          <p:nvPr/>
        </p:nvSpPr>
        <p:spPr>
          <a:xfrm>
            <a:off x="8833104" y="285292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8311896" y="3310128"/>
            <a:ext cx="3383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ON CONFLICT DO UPDATE — no duplicate rows.</a:t>
            </a:r>
            <a:b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Previous alerts deactivated; fresh alerts inserted per run. Fully idempotent across all pipeline runs.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ETL — TRANSFORM</a:t>
            </a:r>
            <a:endParaRPr/>
          </a:p>
        </p:txBody>
      </p:sp>
      <p:sp>
        <p:nvSpPr>
          <p:cNvPr id="302" name="Google Shape;302;p6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Transforming the Raw Data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57200" y="1280160"/>
            <a:ext cx="11274552" cy="14173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548640" y="1371600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1143000" y="141732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Unpack API Arrays → Flat Row Dicts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1143000" y="181051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Open-Meteo returns columnar arrays (e.g. temperature_2m_max: [12.1, 15.3, …]).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Transform zips all arrays by index into individual row dicts — one dict per calendar day or hour.</a:t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57200" y="2852928"/>
            <a:ext cx="11274552" cy="14173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548640" y="2944368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0" name="Google Shape;310;p6"/>
          <p:cNvSpPr txBox="1"/>
          <p:nvPr/>
        </p:nvSpPr>
        <p:spPr>
          <a:xfrm>
            <a:off x="1143000" y="2990088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WMO Code Enrichment</a:t>
            </a:r>
            <a:endParaRPr/>
          </a:p>
        </p:txBody>
      </p:sp>
      <p:sp>
        <p:nvSpPr>
          <p:cNvPr id="311" name="Google Shape;311;p6"/>
          <p:cNvSpPr txBox="1"/>
          <p:nvPr/>
        </p:nvSpPr>
        <p:spPr>
          <a:xfrm>
            <a:off x="1143000" y="338328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Each row's numeric WMO weather code (e.g. 63) is translated to a human-readable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string ("Moderate Rain") using a built-in lookup table covering all 30 WMO codes.</a:t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457200" y="4425696"/>
            <a:ext cx="11274552" cy="14173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548640" y="4517136"/>
            <a:ext cx="502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1143000" y="4562856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 Rule Evaluation  (YAML Config)</a:t>
            </a:r>
            <a:endParaRPr/>
          </a:p>
        </p:txBody>
      </p:sp>
      <p:sp>
        <p:nvSpPr>
          <p:cNvPr id="315" name="Google Shape;315;p6"/>
          <p:cNvSpPr txBox="1"/>
          <p:nvPr/>
        </p:nvSpPr>
        <p:spPr>
          <a:xfrm>
            <a:off x="1143000" y="4956048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Alert thresholds loaded from alerts_config.yaml — not hardcoded in Python.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Each rule defines: name, severity, conditions (AND logic), message text.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Triggered alerts are included in the XCom payload alongside daily/hourly records.</a:t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solidFill>
            <a:srgbClr val="1A281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594360" y="61447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Example rules:   temperature_max &gt; 35  →  danger   |   precipitation_sum &gt; 20  →  warning   |   wind_speed_max &gt; 60  →  danger   |   snowfall_sum &gt; 10  →  info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ETL — LOAD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Loading Data into PostgreSQL</a:t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57200" y="1234440"/>
            <a:ext cx="5394960" cy="22860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594360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UPSERT Pattern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640080" y="171907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Unique constraint: (city, forecast_date)  for daily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640080" y="215798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Unique constraint: (city, forecast_time)  for hourly</a:t>
            </a:r>
            <a:endParaRPr/>
          </a:p>
        </p:txBody>
      </p:sp>
      <p:sp>
        <p:nvSpPr>
          <p:cNvPr id="329" name="Google Shape;329;p7"/>
          <p:cNvSpPr txBox="1"/>
          <p:nvPr/>
        </p:nvSpPr>
        <p:spPr>
          <a:xfrm>
            <a:off x="640080" y="2596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On conflict → update all columns in-place</a:t>
            </a:r>
            <a:endParaRPr/>
          </a:p>
        </p:txBody>
      </p:sp>
      <p:sp>
        <p:nvSpPr>
          <p:cNvPr id="330" name="Google Shape;330;p7"/>
          <p:cNvSpPr txBox="1"/>
          <p:nvPr/>
        </p:nvSpPr>
        <p:spPr>
          <a:xfrm>
            <a:off x="640080" y="30358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No duplicate rows accumulate across runs</a:t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6336792" y="1234440"/>
            <a:ext cx="5394960" cy="22860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473952" y="1325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Alert Lifecycle</a:t>
            </a:r>
            <a:endParaRPr/>
          </a:p>
        </p:txBody>
      </p:sp>
      <p:sp>
        <p:nvSpPr>
          <p:cNvPr id="333" name="Google Shape;333;p7"/>
          <p:cNvSpPr txBox="1"/>
          <p:nvPr/>
        </p:nvSpPr>
        <p:spPr>
          <a:xfrm>
            <a:off x="6510528" y="171907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Before insert: all previous alerts for city</a:t>
            </a:r>
            <a:endParaRPr/>
          </a:p>
        </p:txBody>
      </p:sp>
      <p:sp>
        <p:nvSpPr>
          <p:cNvPr id="334" name="Google Shape;334;p7"/>
          <p:cNvSpPr txBox="1"/>
          <p:nvPr/>
        </p:nvSpPr>
        <p:spPr>
          <a:xfrm>
            <a:off x="6510528" y="210312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set  is_active = false</a:t>
            </a:r>
            <a:endParaRPr/>
          </a:p>
        </p:txBody>
      </p:sp>
      <p:sp>
        <p:nvSpPr>
          <p:cNvPr id="335" name="Google Shape;335;p7"/>
          <p:cNvSpPr txBox="1"/>
          <p:nvPr/>
        </p:nvSpPr>
        <p:spPr>
          <a:xfrm>
            <a:off x="6510528" y="2487168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Fresh alerts from current run inserted as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6510528" y="2871216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is_active = true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6510528" y="325526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Dashboard always shows current forecast only</a:t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457200" y="3749039"/>
            <a:ext cx="11274552" cy="1005840"/>
          </a:xfrm>
          <a:prstGeom prst="rect">
            <a:avLst/>
          </a:prstGeom>
          <a:solidFill>
            <a:srgbClr val="122238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594360" y="3822191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What gets written per pipeline run: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457200" y="413308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7 rows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457200" y="4361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weather_daily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4215384" y="413308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168 rows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4215384" y="4361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weather_hourly</a:t>
            </a:r>
            <a:endParaRPr/>
          </a:p>
        </p:txBody>
      </p:sp>
      <p:sp>
        <p:nvSpPr>
          <p:cNvPr id="344" name="Google Shape;344;p7"/>
          <p:cNvSpPr txBox="1"/>
          <p:nvPr/>
        </p:nvSpPr>
        <p:spPr>
          <a:xfrm>
            <a:off x="7973568" y="413308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 rows (if triggered)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7973568" y="43616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weather_alerts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Schema — 6 Tables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57200" y="128016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 txBox="1"/>
          <p:nvPr/>
        </p:nvSpPr>
        <p:spPr>
          <a:xfrm>
            <a:off x="566928" y="13716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1115568" y="13990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weather_daily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1115568" y="17099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13 columns</a:t>
            </a:r>
            <a:endParaRPr/>
          </a:p>
        </p:txBody>
      </p:sp>
      <p:sp>
        <p:nvSpPr>
          <p:cNvPr id="357" name="Google Shape;357;p8"/>
          <p:cNvSpPr txBox="1"/>
          <p:nvPr/>
        </p:nvSpPr>
        <p:spPr>
          <a:xfrm>
            <a:off x="566928" y="202996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Daily forecast per city · UPSERT on (city, date)</a:t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270248" y="128016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4379976" y="13716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🕐</a:t>
            </a:r>
            <a:endParaRPr/>
          </a:p>
        </p:txBody>
      </p:sp>
      <p:sp>
        <p:nvSpPr>
          <p:cNvPr id="360" name="Google Shape;360;p8"/>
          <p:cNvSpPr txBox="1"/>
          <p:nvPr/>
        </p:nvSpPr>
        <p:spPr>
          <a:xfrm>
            <a:off x="4928616" y="13990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weather_hourly</a:t>
            </a:r>
            <a:endParaRPr/>
          </a:p>
        </p:txBody>
      </p:sp>
      <p:sp>
        <p:nvSpPr>
          <p:cNvPr id="361" name="Google Shape;361;p8"/>
          <p:cNvSpPr txBox="1"/>
          <p:nvPr/>
        </p:nvSpPr>
        <p:spPr>
          <a:xfrm>
            <a:off x="4928616" y="17099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21 columns</a:t>
            </a:r>
            <a:endParaRPr/>
          </a:p>
        </p:txBody>
      </p:sp>
      <p:sp>
        <p:nvSpPr>
          <p:cNvPr id="362" name="Google Shape;362;p8"/>
          <p:cNvSpPr txBox="1"/>
          <p:nvPr/>
        </p:nvSpPr>
        <p:spPr>
          <a:xfrm>
            <a:off x="4379976" y="202996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Hourly forecast + soil data · UPSERT on (city, time)</a:t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8083296" y="128016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8193024" y="13716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8741664" y="13990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weather_alerts</a:t>
            </a:r>
            <a:endParaRPr/>
          </a:p>
        </p:txBody>
      </p:sp>
      <p:sp>
        <p:nvSpPr>
          <p:cNvPr id="366" name="Google Shape;366;p8"/>
          <p:cNvSpPr txBox="1"/>
          <p:nvPr/>
        </p:nvSpPr>
        <p:spPr>
          <a:xfrm>
            <a:off x="8741664" y="17099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10 columns</a:t>
            </a:r>
            <a:endParaRPr/>
          </a:p>
        </p:txBody>
      </p:sp>
      <p:sp>
        <p:nvSpPr>
          <p:cNvPr id="367" name="Google Shape;367;p8"/>
          <p:cNvSpPr txBox="1"/>
          <p:nvPr/>
        </p:nvSpPr>
        <p:spPr>
          <a:xfrm>
            <a:off x="8193024" y="202996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System-generated alerts · JSONB trigger snapshot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457200" y="283464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566928" y="2926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/>
          </a:p>
        </p:txBody>
      </p:sp>
      <p:sp>
        <p:nvSpPr>
          <p:cNvPr id="370" name="Google Shape;370;p8"/>
          <p:cNvSpPr txBox="1"/>
          <p:nvPr/>
        </p:nvSpPr>
        <p:spPr>
          <a:xfrm>
            <a:off x="1115568" y="29535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stations</a:t>
            </a:r>
            <a:endParaRPr/>
          </a:p>
        </p:txBody>
      </p:sp>
      <p:sp>
        <p:nvSpPr>
          <p:cNvPr id="371" name="Google Shape;371;p8"/>
          <p:cNvSpPr txBox="1"/>
          <p:nvPr/>
        </p:nvSpPr>
        <p:spPr>
          <a:xfrm>
            <a:off x="1115568" y="326440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 6 columns</a:t>
            </a:r>
            <a:endParaRPr/>
          </a:p>
        </p:txBody>
      </p:sp>
      <p:sp>
        <p:nvSpPr>
          <p:cNvPr id="372" name="Google Shape;372;p8"/>
          <p:cNvSpPr txBox="1"/>
          <p:nvPr/>
        </p:nvSpPr>
        <p:spPr>
          <a:xfrm>
            <a:off x="566928" y="358444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~75 cities pre-seeded · lat/lon for API calls</a:t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4270248" y="283464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4379976" y="2926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>
            <a:off x="4928616" y="29535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4928616" y="326440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 6 columns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4379976" y="358444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bcrypt-hashed passwords · email for notifications</a:t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8083296" y="2834640"/>
            <a:ext cx="3611880" cy="13716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 txBox="1"/>
          <p:nvPr/>
        </p:nvSpPr>
        <p:spPr>
          <a:xfrm>
            <a:off x="8193024" y="2926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  <p:sp>
        <p:nvSpPr>
          <p:cNvPr id="380" name="Google Shape;380;p8"/>
          <p:cNvSpPr txBox="1"/>
          <p:nvPr/>
        </p:nvSpPr>
        <p:spPr>
          <a:xfrm>
            <a:off x="8741664" y="29535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warnings</a:t>
            </a:r>
            <a:endParaRPr/>
          </a:p>
        </p:txBody>
      </p:sp>
      <p:sp>
        <p:nvSpPr>
          <p:cNvPr id="381" name="Google Shape;381;p8"/>
          <p:cNvSpPr txBox="1"/>
          <p:nvPr/>
        </p:nvSpPr>
        <p:spPr>
          <a:xfrm>
            <a:off x="8741664" y="326440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10 columns</a:t>
            </a:r>
            <a:endParaRPr/>
          </a:p>
        </p:txBody>
      </p:sp>
      <p:sp>
        <p:nvSpPr>
          <p:cNvPr id="382" name="Google Shape;382;p8"/>
          <p:cNvSpPr txBox="1"/>
          <p:nvPr/>
        </p:nvSpPr>
        <p:spPr>
          <a:xfrm>
            <a:off x="8193024" y="3584448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 rules · JSONB conditions + validity · active flag</a:t>
            </a:r>
            <a:endParaRPr/>
          </a:p>
        </p:txBody>
      </p:sp>
      <p:sp>
        <p:nvSpPr>
          <p:cNvPr id="383" name="Google Shape;383;p8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ETL tables    |    Application tables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DATABASE — SCHEMA DETAIL</a:t>
            </a:r>
            <a:endParaRPr/>
          </a:p>
        </p:txBody>
      </p:sp>
      <p:sp>
        <p:nvSpPr>
          <p:cNvPr id="389" name="Google Shape;389;p9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ETL Tables</a:t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weather_daily</a:t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457200" y="1554480"/>
            <a:ext cx="182880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512064" y="160020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2286000" y="1554480"/>
            <a:ext cx="182880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2340864" y="160020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4114800" y="1554480"/>
            <a:ext cx="182880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4169664" y="160020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57200" y="185623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512064" y="189280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id  (PK)</a:t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2286000" y="185623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2340864" y="189280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4114800" y="185623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4169664" y="189280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457200" y="215798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512064" y="219456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2286000" y="215798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2340864" y="219456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VARCHAR(100)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114800" y="215798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4169664" y="219456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457200" y="245973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512064" y="249631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forecast_date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2286000" y="245973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 txBox="1"/>
          <p:nvPr/>
        </p:nvSpPr>
        <p:spPr>
          <a:xfrm>
            <a:off x="2340864" y="249631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4114800" y="245973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4169664" y="249631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57200" y="2761488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512064" y="279806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temperature_max</a:t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2286000" y="2761488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 txBox="1"/>
          <p:nvPr/>
        </p:nvSpPr>
        <p:spPr>
          <a:xfrm>
            <a:off x="2340864" y="279806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4114800" y="2761488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 txBox="1"/>
          <p:nvPr/>
        </p:nvSpPr>
        <p:spPr>
          <a:xfrm>
            <a:off x="4169664" y="279806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457200" y="3063240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 txBox="1"/>
          <p:nvPr/>
        </p:nvSpPr>
        <p:spPr>
          <a:xfrm>
            <a:off x="512064" y="309981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temperature_min</a:t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2286000" y="3063240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2340864" y="309981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114800" y="3063240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4169664" y="309981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457200" y="3364992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512064" y="340156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precipitation_sum</a:t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2286000" y="3364992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 txBox="1"/>
          <p:nvPr/>
        </p:nvSpPr>
        <p:spPr>
          <a:xfrm>
            <a:off x="2340864" y="340156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4114800" y="3364992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 txBox="1"/>
          <p:nvPr/>
        </p:nvSpPr>
        <p:spPr>
          <a:xfrm>
            <a:off x="4169664" y="340156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457200" y="3666744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512064" y="370332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snowfall_sum</a:t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2286000" y="3666744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 txBox="1"/>
          <p:nvPr/>
        </p:nvSpPr>
        <p:spPr>
          <a:xfrm>
            <a:off x="2340864" y="370332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4114800" y="3666744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 txBox="1"/>
          <p:nvPr/>
        </p:nvSpPr>
        <p:spPr>
          <a:xfrm>
            <a:off x="4169664" y="370332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cm</a:t>
            </a: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457200" y="3968496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 txBox="1"/>
          <p:nvPr/>
        </p:nvSpPr>
        <p:spPr>
          <a:xfrm>
            <a:off x="512064" y="400507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wind_speed_max</a:t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2286000" y="3968496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 txBox="1"/>
          <p:nvPr/>
        </p:nvSpPr>
        <p:spPr>
          <a:xfrm>
            <a:off x="2340864" y="400507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4114800" y="3968496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9"/>
          <p:cNvSpPr txBox="1"/>
          <p:nvPr/>
        </p:nvSpPr>
        <p:spPr>
          <a:xfrm>
            <a:off x="4169664" y="400507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km/h</a:t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457200" y="4270248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512064" y="430682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wind_gusts_max</a:t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2286000" y="4270248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 txBox="1"/>
          <p:nvPr/>
        </p:nvSpPr>
        <p:spPr>
          <a:xfrm>
            <a:off x="2340864" y="430682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4114800" y="4270248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 txBox="1"/>
          <p:nvPr/>
        </p:nvSpPr>
        <p:spPr>
          <a:xfrm>
            <a:off x="4169664" y="4306824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km/h</a:t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457200" y="4572000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 txBox="1"/>
          <p:nvPr/>
        </p:nvSpPr>
        <p:spPr>
          <a:xfrm>
            <a:off x="512064" y="460857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uv_index_max</a:t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2286000" y="4572000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 txBox="1"/>
          <p:nvPr/>
        </p:nvSpPr>
        <p:spPr>
          <a:xfrm>
            <a:off x="2340864" y="460857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DECIMAL(4,2)</a:t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4114800" y="4572000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 txBox="1"/>
          <p:nvPr/>
        </p:nvSpPr>
        <p:spPr>
          <a:xfrm>
            <a:off x="4169664" y="4608576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457200" y="487375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 txBox="1"/>
          <p:nvPr/>
        </p:nvSpPr>
        <p:spPr>
          <a:xfrm>
            <a:off x="512064" y="491032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weather_code</a:t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2286000" y="487375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 txBox="1"/>
          <p:nvPr/>
        </p:nvSpPr>
        <p:spPr>
          <a:xfrm>
            <a:off x="2340864" y="491032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4114800" y="4873752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 txBox="1"/>
          <p:nvPr/>
        </p:nvSpPr>
        <p:spPr>
          <a:xfrm>
            <a:off x="4169664" y="4910328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WMO</a:t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457200" y="517550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 txBox="1"/>
          <p:nvPr/>
        </p:nvSpPr>
        <p:spPr>
          <a:xfrm>
            <a:off x="512064" y="521208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sunrise / sunset</a:t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2286000" y="517550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 txBox="1"/>
          <p:nvPr/>
        </p:nvSpPr>
        <p:spPr>
          <a:xfrm>
            <a:off x="2340864" y="521208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TIMESTAMPTZ</a:t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4114800" y="5175504"/>
            <a:ext cx="182880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 txBox="1"/>
          <p:nvPr/>
        </p:nvSpPr>
        <p:spPr>
          <a:xfrm>
            <a:off x="4169664" y="5212080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457200" y="547725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 txBox="1"/>
          <p:nvPr/>
        </p:nvSpPr>
        <p:spPr>
          <a:xfrm>
            <a:off x="512064" y="551383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created_at</a:t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2286000" y="547725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 txBox="1"/>
          <p:nvPr/>
        </p:nvSpPr>
        <p:spPr>
          <a:xfrm>
            <a:off x="2340864" y="551383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TIMESTAMPTZ</a:t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4114800" y="5477256"/>
            <a:ext cx="182880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 txBox="1"/>
          <p:nvPr/>
        </p:nvSpPr>
        <p:spPr>
          <a:xfrm>
            <a:off x="4169664" y="5513832"/>
            <a:ext cx="1737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UTC</a:t>
            </a:r>
            <a:endParaRPr/>
          </a:p>
        </p:txBody>
      </p:sp>
      <p:sp>
        <p:nvSpPr>
          <p:cNvPr id="476" name="Google Shape;476;p9"/>
          <p:cNvSpPr txBox="1"/>
          <p:nvPr/>
        </p:nvSpPr>
        <p:spPr>
          <a:xfrm>
            <a:off x="6336792" y="12070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weather_hourly  (key columns)</a:t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6336792" y="1554480"/>
            <a:ext cx="179832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 txBox="1"/>
          <p:nvPr/>
        </p:nvSpPr>
        <p:spPr>
          <a:xfrm>
            <a:off x="6391656" y="160020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8135112" y="1554480"/>
            <a:ext cx="179832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 txBox="1"/>
          <p:nvPr/>
        </p:nvSpPr>
        <p:spPr>
          <a:xfrm>
            <a:off x="8189976" y="160020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9933432" y="1554480"/>
            <a:ext cx="1798320" cy="30175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 txBox="1"/>
          <p:nvPr/>
        </p:nvSpPr>
        <p:spPr>
          <a:xfrm>
            <a:off x="9988296" y="160020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6336792" y="185623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 txBox="1"/>
          <p:nvPr/>
        </p:nvSpPr>
        <p:spPr>
          <a:xfrm>
            <a:off x="6391656" y="189280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8135112" y="185623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 txBox="1"/>
          <p:nvPr/>
        </p:nvSpPr>
        <p:spPr>
          <a:xfrm>
            <a:off x="8189976" y="189280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9933432" y="185623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 txBox="1"/>
          <p:nvPr/>
        </p:nvSpPr>
        <p:spPr>
          <a:xfrm>
            <a:off x="9988296" y="189280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6336792" y="215798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6391656" y="219456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feels_like</a:t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>
            <a:off x="8135112" y="215798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 txBox="1"/>
          <p:nvPr/>
        </p:nvSpPr>
        <p:spPr>
          <a:xfrm>
            <a:off x="8189976" y="219456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493" name="Google Shape;493;p9"/>
          <p:cNvSpPr/>
          <p:nvPr/>
        </p:nvSpPr>
        <p:spPr>
          <a:xfrm>
            <a:off x="9933432" y="215798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 txBox="1"/>
          <p:nvPr/>
        </p:nvSpPr>
        <p:spPr>
          <a:xfrm>
            <a:off x="9988296" y="219456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6336792" y="245973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 txBox="1"/>
          <p:nvPr/>
        </p:nvSpPr>
        <p:spPr>
          <a:xfrm>
            <a:off x="6391656" y="249631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precipitation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8135112" y="245973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 txBox="1"/>
          <p:nvPr/>
        </p:nvSpPr>
        <p:spPr>
          <a:xfrm>
            <a:off x="8189976" y="249631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9933432" y="245973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 txBox="1"/>
          <p:nvPr/>
        </p:nvSpPr>
        <p:spPr>
          <a:xfrm>
            <a:off x="9988296" y="249631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6336792" y="2761488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 txBox="1"/>
          <p:nvPr/>
        </p:nvSpPr>
        <p:spPr>
          <a:xfrm>
            <a:off x="6391656" y="279806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wind_speed</a:t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8135112" y="2761488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 txBox="1"/>
          <p:nvPr/>
        </p:nvSpPr>
        <p:spPr>
          <a:xfrm>
            <a:off x="8189976" y="279806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9933432" y="2761488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 txBox="1"/>
          <p:nvPr/>
        </p:nvSpPr>
        <p:spPr>
          <a:xfrm>
            <a:off x="9988296" y="279806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km/h</a:t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6336792" y="3063240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 txBox="1"/>
          <p:nvPr/>
        </p:nvSpPr>
        <p:spPr>
          <a:xfrm>
            <a:off x="6391656" y="309981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wind_direction</a:t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8135112" y="3063240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 txBox="1"/>
          <p:nvPr/>
        </p:nvSpPr>
        <p:spPr>
          <a:xfrm>
            <a:off x="8189976" y="309981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9933432" y="3063240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 txBox="1"/>
          <p:nvPr/>
        </p:nvSpPr>
        <p:spPr>
          <a:xfrm>
            <a:off x="9988296" y="309981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degrees</a:t>
            </a: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6336792" y="3364992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 txBox="1"/>
          <p:nvPr/>
        </p:nvSpPr>
        <p:spPr>
          <a:xfrm>
            <a:off x="6391656" y="340156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8135112" y="3364992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 txBox="1"/>
          <p:nvPr/>
        </p:nvSpPr>
        <p:spPr>
          <a:xfrm>
            <a:off x="8189976" y="340156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9933432" y="3364992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 txBox="1"/>
          <p:nvPr/>
        </p:nvSpPr>
        <p:spPr>
          <a:xfrm>
            <a:off x="9988296" y="340156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6336792" y="3666744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 txBox="1"/>
          <p:nvPr/>
        </p:nvSpPr>
        <p:spPr>
          <a:xfrm>
            <a:off x="6391656" y="370332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sunshine_duration</a:t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8135112" y="3666744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 txBox="1"/>
          <p:nvPr/>
        </p:nvSpPr>
        <p:spPr>
          <a:xfrm>
            <a:off x="8189976" y="370332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DECIMAL(6,2)</a:t>
            </a: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9933432" y="3666744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 txBox="1"/>
          <p:nvPr/>
        </p:nvSpPr>
        <p:spPr>
          <a:xfrm>
            <a:off x="9988296" y="370332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sec</a:t>
            </a: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6336792" y="3968496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9"/>
          <p:cNvSpPr txBox="1"/>
          <p:nvPr/>
        </p:nvSpPr>
        <p:spPr>
          <a:xfrm>
            <a:off x="6391656" y="400507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soil_temperature_0cm</a:t>
            </a: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8135112" y="3968496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 txBox="1"/>
          <p:nvPr/>
        </p:nvSpPr>
        <p:spPr>
          <a:xfrm>
            <a:off x="8189976" y="400507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9933432" y="3968496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 txBox="1"/>
          <p:nvPr/>
        </p:nvSpPr>
        <p:spPr>
          <a:xfrm>
            <a:off x="9988296" y="400507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6336792" y="4270248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 txBox="1"/>
          <p:nvPr/>
        </p:nvSpPr>
        <p:spPr>
          <a:xfrm>
            <a:off x="6391656" y="430682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soil_temperature_6cm</a:t>
            </a: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135112" y="4270248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 txBox="1"/>
          <p:nvPr/>
        </p:nvSpPr>
        <p:spPr>
          <a:xfrm>
            <a:off x="8189976" y="430682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9933432" y="4270248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 txBox="1"/>
          <p:nvPr/>
        </p:nvSpPr>
        <p:spPr>
          <a:xfrm>
            <a:off x="9988296" y="4306824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6336792" y="4572000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 txBox="1"/>
          <p:nvPr/>
        </p:nvSpPr>
        <p:spPr>
          <a:xfrm>
            <a:off x="6391656" y="460857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soil_temperature_18cm</a:t>
            </a: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8135112" y="4572000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 txBox="1"/>
          <p:nvPr/>
        </p:nvSpPr>
        <p:spPr>
          <a:xfrm>
            <a:off x="8189976" y="460857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DECIMAL(5,2)</a:t>
            </a: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9933432" y="4572000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 txBox="1"/>
          <p:nvPr/>
        </p:nvSpPr>
        <p:spPr>
          <a:xfrm>
            <a:off x="9988296" y="4608576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°C</a:t>
            </a:r>
            <a:endParaRPr/>
          </a:p>
        </p:txBody>
      </p:sp>
      <p:sp>
        <p:nvSpPr>
          <p:cNvPr id="543" name="Google Shape;543;p9"/>
          <p:cNvSpPr/>
          <p:nvPr/>
        </p:nvSpPr>
        <p:spPr>
          <a:xfrm>
            <a:off x="6336792" y="487375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 txBox="1"/>
          <p:nvPr/>
        </p:nvSpPr>
        <p:spPr>
          <a:xfrm>
            <a:off x="6391656" y="491032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soil_moisture_0_1cm</a:t>
            </a:r>
            <a:endParaRPr/>
          </a:p>
        </p:txBody>
      </p:sp>
      <p:sp>
        <p:nvSpPr>
          <p:cNvPr id="545" name="Google Shape;545;p9"/>
          <p:cNvSpPr/>
          <p:nvPr/>
        </p:nvSpPr>
        <p:spPr>
          <a:xfrm>
            <a:off x="8135112" y="487375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 txBox="1"/>
          <p:nvPr/>
        </p:nvSpPr>
        <p:spPr>
          <a:xfrm>
            <a:off x="8189976" y="491032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DECIMAL(8,6)</a:t>
            </a:r>
            <a:endParaRPr/>
          </a:p>
        </p:txBody>
      </p:sp>
      <p:sp>
        <p:nvSpPr>
          <p:cNvPr id="547" name="Google Shape;547;p9"/>
          <p:cNvSpPr/>
          <p:nvPr/>
        </p:nvSpPr>
        <p:spPr>
          <a:xfrm>
            <a:off x="9933432" y="4873752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 txBox="1"/>
          <p:nvPr/>
        </p:nvSpPr>
        <p:spPr>
          <a:xfrm>
            <a:off x="9988296" y="4910328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m³/m³</a:t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6336792" y="517550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 txBox="1"/>
          <p:nvPr/>
        </p:nvSpPr>
        <p:spPr>
          <a:xfrm>
            <a:off x="6391656" y="521208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soil_moisture_1_3cm</a:t>
            </a:r>
            <a:endParaRPr/>
          </a:p>
        </p:txBody>
      </p:sp>
      <p:sp>
        <p:nvSpPr>
          <p:cNvPr id="551" name="Google Shape;551;p9"/>
          <p:cNvSpPr/>
          <p:nvPr/>
        </p:nvSpPr>
        <p:spPr>
          <a:xfrm>
            <a:off x="8135112" y="517550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 txBox="1"/>
          <p:nvPr/>
        </p:nvSpPr>
        <p:spPr>
          <a:xfrm>
            <a:off x="8189976" y="521208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DECIMAL(8,6)</a:t>
            </a:r>
            <a:endParaRPr/>
          </a:p>
        </p:txBody>
      </p:sp>
      <p:sp>
        <p:nvSpPr>
          <p:cNvPr id="553" name="Google Shape;553;p9"/>
          <p:cNvSpPr/>
          <p:nvPr/>
        </p:nvSpPr>
        <p:spPr>
          <a:xfrm>
            <a:off x="9933432" y="5175504"/>
            <a:ext cx="1798320" cy="30175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 txBox="1"/>
          <p:nvPr/>
        </p:nvSpPr>
        <p:spPr>
          <a:xfrm>
            <a:off x="9988296" y="5212080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m³/m³</a:t>
            </a:r>
            <a:endParaRPr/>
          </a:p>
        </p:txBody>
      </p:sp>
      <p:sp>
        <p:nvSpPr>
          <p:cNvPr id="555" name="Google Shape;555;p9"/>
          <p:cNvSpPr/>
          <p:nvPr/>
        </p:nvSpPr>
        <p:spPr>
          <a:xfrm>
            <a:off x="6336792" y="547725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 txBox="1"/>
          <p:nvPr/>
        </p:nvSpPr>
        <p:spPr>
          <a:xfrm>
            <a:off x="6391656" y="551383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soil_moisture_3_9cm</a:t>
            </a:r>
            <a:endParaRPr/>
          </a:p>
        </p:txBody>
      </p:sp>
      <p:sp>
        <p:nvSpPr>
          <p:cNvPr id="557" name="Google Shape;557;p9"/>
          <p:cNvSpPr/>
          <p:nvPr/>
        </p:nvSpPr>
        <p:spPr>
          <a:xfrm>
            <a:off x="8135112" y="547725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 txBox="1"/>
          <p:nvPr/>
        </p:nvSpPr>
        <p:spPr>
          <a:xfrm>
            <a:off x="8189976" y="551383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DECIMAL(8,6)</a:t>
            </a:r>
            <a:endParaRPr/>
          </a:p>
        </p:txBody>
      </p:sp>
      <p:sp>
        <p:nvSpPr>
          <p:cNvPr id="559" name="Google Shape;559;p9"/>
          <p:cNvSpPr/>
          <p:nvPr/>
        </p:nvSpPr>
        <p:spPr>
          <a:xfrm>
            <a:off x="9933432" y="5477256"/>
            <a:ext cx="1798320" cy="30175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 txBox="1"/>
          <p:nvPr/>
        </p:nvSpPr>
        <p:spPr>
          <a:xfrm>
            <a:off x="9988296" y="5513832"/>
            <a:ext cx="170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m³/m³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0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DATABASE — SCHEMA DETAIL</a:t>
            </a:r>
            <a:endParaRPr/>
          </a:p>
        </p:txBody>
      </p:sp>
      <p:sp>
        <p:nvSpPr>
          <p:cNvPr id="566" name="Google Shape;566;p10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Tables</a:t>
            </a:r>
            <a:endParaRPr/>
          </a:p>
        </p:txBody>
      </p:sp>
      <p:sp>
        <p:nvSpPr>
          <p:cNvPr id="567" name="Google Shape;567;p10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 txBox="1"/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/>
          </a:p>
        </p:txBody>
      </p:sp>
      <p:sp>
        <p:nvSpPr>
          <p:cNvPr id="569" name="Google Shape;569;p10"/>
          <p:cNvSpPr/>
          <p:nvPr/>
        </p:nvSpPr>
        <p:spPr>
          <a:xfrm>
            <a:off x="457200" y="1554480"/>
            <a:ext cx="2697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0"/>
          <p:cNvSpPr txBox="1"/>
          <p:nvPr/>
        </p:nvSpPr>
        <p:spPr>
          <a:xfrm>
            <a:off x="512064" y="1600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571" name="Google Shape;571;p10"/>
          <p:cNvSpPr/>
          <p:nvPr/>
        </p:nvSpPr>
        <p:spPr>
          <a:xfrm>
            <a:off x="3154680" y="1554480"/>
            <a:ext cx="2697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0"/>
          <p:cNvSpPr txBox="1"/>
          <p:nvPr/>
        </p:nvSpPr>
        <p:spPr>
          <a:xfrm>
            <a:off x="3209544" y="1600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Type / Notes</a:t>
            </a:r>
            <a:endParaRPr/>
          </a:p>
        </p:txBody>
      </p:sp>
      <p:sp>
        <p:nvSpPr>
          <p:cNvPr id="573" name="Google Shape;573;p10"/>
          <p:cNvSpPr/>
          <p:nvPr/>
        </p:nvSpPr>
        <p:spPr>
          <a:xfrm>
            <a:off x="457200" y="1901952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0"/>
          <p:cNvSpPr txBox="1"/>
          <p:nvPr/>
        </p:nvSpPr>
        <p:spPr>
          <a:xfrm>
            <a:off x="512064" y="19385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id  (PK)</a:t>
            </a:r>
            <a:endParaRPr/>
          </a:p>
        </p:txBody>
      </p:sp>
      <p:sp>
        <p:nvSpPr>
          <p:cNvPr id="575" name="Google Shape;575;p10"/>
          <p:cNvSpPr/>
          <p:nvPr/>
        </p:nvSpPr>
        <p:spPr>
          <a:xfrm>
            <a:off x="3154680" y="1901952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0"/>
          <p:cNvSpPr txBox="1"/>
          <p:nvPr/>
        </p:nvSpPr>
        <p:spPr>
          <a:xfrm>
            <a:off x="3209544" y="19385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</p:txBody>
      </p:sp>
      <p:sp>
        <p:nvSpPr>
          <p:cNvPr id="577" name="Google Shape;577;p10"/>
          <p:cNvSpPr/>
          <p:nvPr/>
        </p:nvSpPr>
        <p:spPr>
          <a:xfrm>
            <a:off x="457200" y="2249424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0"/>
          <p:cNvSpPr txBox="1"/>
          <p:nvPr/>
        </p:nvSpPr>
        <p:spPr>
          <a:xfrm>
            <a:off x="512064" y="22860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/>
          </a:p>
        </p:txBody>
      </p:sp>
      <p:sp>
        <p:nvSpPr>
          <p:cNvPr id="579" name="Google Shape;579;p10"/>
          <p:cNvSpPr/>
          <p:nvPr/>
        </p:nvSpPr>
        <p:spPr>
          <a:xfrm>
            <a:off x="3154680" y="2249424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 txBox="1"/>
          <p:nvPr/>
        </p:nvSpPr>
        <p:spPr>
          <a:xfrm>
            <a:off x="3209544" y="22860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VARCHAR(255)  UNIQUE</a:t>
            </a:r>
            <a:endParaRPr/>
          </a:p>
        </p:txBody>
      </p:sp>
      <p:sp>
        <p:nvSpPr>
          <p:cNvPr id="581" name="Google Shape;581;p10"/>
          <p:cNvSpPr/>
          <p:nvPr/>
        </p:nvSpPr>
        <p:spPr>
          <a:xfrm>
            <a:off x="457200" y="2596896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 txBox="1"/>
          <p:nvPr/>
        </p:nvSpPr>
        <p:spPr>
          <a:xfrm>
            <a:off x="512064" y="26334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/>
          </a:p>
        </p:txBody>
      </p:sp>
      <p:sp>
        <p:nvSpPr>
          <p:cNvPr id="583" name="Google Shape;583;p10"/>
          <p:cNvSpPr/>
          <p:nvPr/>
        </p:nvSpPr>
        <p:spPr>
          <a:xfrm>
            <a:off x="3154680" y="2596896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 txBox="1"/>
          <p:nvPr/>
        </p:nvSpPr>
        <p:spPr>
          <a:xfrm>
            <a:off x="3209544" y="26334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VARCHAR(100)  UNIQUE</a:t>
            </a:r>
            <a:endParaRPr/>
          </a:p>
        </p:txBody>
      </p:sp>
      <p:sp>
        <p:nvSpPr>
          <p:cNvPr id="585" name="Google Shape;585;p10"/>
          <p:cNvSpPr/>
          <p:nvPr/>
        </p:nvSpPr>
        <p:spPr>
          <a:xfrm>
            <a:off x="457200" y="2944368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 txBox="1"/>
          <p:nvPr/>
        </p:nvSpPr>
        <p:spPr>
          <a:xfrm>
            <a:off x="512064" y="2980944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hashed_password</a:t>
            </a:r>
            <a:endParaRPr/>
          </a:p>
        </p:txBody>
      </p:sp>
      <p:sp>
        <p:nvSpPr>
          <p:cNvPr id="587" name="Google Shape;587;p10"/>
          <p:cNvSpPr/>
          <p:nvPr/>
        </p:nvSpPr>
        <p:spPr>
          <a:xfrm>
            <a:off x="3154680" y="2944368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 txBox="1"/>
          <p:nvPr/>
        </p:nvSpPr>
        <p:spPr>
          <a:xfrm>
            <a:off x="3209544" y="2980944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VARCHAR(255)  — bcrypt</a:t>
            </a:r>
            <a:endParaRPr/>
          </a:p>
        </p:txBody>
      </p:sp>
      <p:sp>
        <p:nvSpPr>
          <p:cNvPr id="589" name="Google Shape;589;p10"/>
          <p:cNvSpPr/>
          <p:nvPr/>
        </p:nvSpPr>
        <p:spPr>
          <a:xfrm>
            <a:off x="457200" y="3291840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0"/>
          <p:cNvSpPr txBox="1"/>
          <p:nvPr/>
        </p:nvSpPr>
        <p:spPr>
          <a:xfrm>
            <a:off x="512064" y="3328416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is_active</a:t>
            </a:r>
            <a:endParaRPr/>
          </a:p>
        </p:txBody>
      </p:sp>
      <p:sp>
        <p:nvSpPr>
          <p:cNvPr id="591" name="Google Shape;591;p10"/>
          <p:cNvSpPr/>
          <p:nvPr/>
        </p:nvSpPr>
        <p:spPr>
          <a:xfrm>
            <a:off x="3154680" y="3291840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"/>
          <p:cNvSpPr txBox="1"/>
          <p:nvPr/>
        </p:nvSpPr>
        <p:spPr>
          <a:xfrm>
            <a:off x="3209544" y="3328416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endParaRPr/>
          </a:p>
        </p:txBody>
      </p:sp>
      <p:sp>
        <p:nvSpPr>
          <p:cNvPr id="593" name="Google Shape;593;p10"/>
          <p:cNvSpPr/>
          <p:nvPr/>
        </p:nvSpPr>
        <p:spPr>
          <a:xfrm>
            <a:off x="457200" y="3639312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 txBox="1"/>
          <p:nvPr/>
        </p:nvSpPr>
        <p:spPr>
          <a:xfrm>
            <a:off x="512064" y="36758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created_at</a:t>
            </a:r>
            <a:endParaRPr/>
          </a:p>
        </p:txBody>
      </p:sp>
      <p:sp>
        <p:nvSpPr>
          <p:cNvPr id="595" name="Google Shape;595;p10"/>
          <p:cNvSpPr/>
          <p:nvPr/>
        </p:nvSpPr>
        <p:spPr>
          <a:xfrm>
            <a:off x="3154680" y="3639312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 txBox="1"/>
          <p:nvPr/>
        </p:nvSpPr>
        <p:spPr>
          <a:xfrm>
            <a:off x="3209544" y="36758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TIMESTAMPTZ</a:t>
            </a:r>
            <a:endParaRPr/>
          </a:p>
        </p:txBody>
      </p:sp>
      <p:sp>
        <p:nvSpPr>
          <p:cNvPr id="597" name="Google Shape;597;p10"/>
          <p:cNvSpPr txBox="1"/>
          <p:nvPr/>
        </p:nvSpPr>
        <p:spPr>
          <a:xfrm>
            <a:off x="6336792" y="12070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warnings  (user-defined)</a:t>
            </a:r>
            <a:endParaRPr/>
          </a:p>
        </p:txBody>
      </p:sp>
      <p:sp>
        <p:nvSpPr>
          <p:cNvPr id="598" name="Google Shape;598;p10"/>
          <p:cNvSpPr/>
          <p:nvPr/>
        </p:nvSpPr>
        <p:spPr>
          <a:xfrm>
            <a:off x="6336792" y="1554480"/>
            <a:ext cx="2697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0"/>
          <p:cNvSpPr txBox="1"/>
          <p:nvPr/>
        </p:nvSpPr>
        <p:spPr>
          <a:xfrm>
            <a:off x="6391656" y="1600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600" name="Google Shape;600;p10"/>
          <p:cNvSpPr/>
          <p:nvPr/>
        </p:nvSpPr>
        <p:spPr>
          <a:xfrm>
            <a:off x="9034272" y="1554480"/>
            <a:ext cx="2697480" cy="347472"/>
          </a:xfrm>
          <a:prstGeom prst="rect">
            <a:avLst/>
          </a:prstGeom>
          <a:solidFill>
            <a:srgbClr val="1A365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0"/>
          <p:cNvSpPr txBox="1"/>
          <p:nvPr/>
        </p:nvSpPr>
        <p:spPr>
          <a:xfrm>
            <a:off x="9089136" y="1600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/>
          </a:p>
        </p:txBody>
      </p:sp>
      <p:sp>
        <p:nvSpPr>
          <p:cNvPr id="602" name="Google Shape;602;p10"/>
          <p:cNvSpPr/>
          <p:nvPr/>
        </p:nvSpPr>
        <p:spPr>
          <a:xfrm>
            <a:off x="6336792" y="1901952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0"/>
          <p:cNvSpPr txBox="1"/>
          <p:nvPr/>
        </p:nvSpPr>
        <p:spPr>
          <a:xfrm>
            <a:off x="6391656" y="19385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user_id  (FK)</a:t>
            </a:r>
            <a:endParaRPr/>
          </a:p>
        </p:txBody>
      </p:sp>
      <p:sp>
        <p:nvSpPr>
          <p:cNvPr id="604" name="Google Shape;604;p10"/>
          <p:cNvSpPr/>
          <p:nvPr/>
        </p:nvSpPr>
        <p:spPr>
          <a:xfrm>
            <a:off x="9034272" y="1901952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0"/>
          <p:cNvSpPr txBox="1"/>
          <p:nvPr/>
        </p:nvSpPr>
        <p:spPr>
          <a:xfrm>
            <a:off x="9089136" y="193852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→ users.id  CASCADE DELETE</a:t>
            </a:r>
            <a:endParaRPr/>
          </a:p>
        </p:txBody>
      </p:sp>
      <p:sp>
        <p:nvSpPr>
          <p:cNvPr id="606" name="Google Shape;606;p10"/>
          <p:cNvSpPr/>
          <p:nvPr/>
        </p:nvSpPr>
        <p:spPr>
          <a:xfrm>
            <a:off x="6336792" y="2249424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"/>
          <p:cNvSpPr txBox="1"/>
          <p:nvPr/>
        </p:nvSpPr>
        <p:spPr>
          <a:xfrm>
            <a:off x="6391656" y="22860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station_id  (FK)</a:t>
            </a:r>
            <a:endParaRPr/>
          </a:p>
        </p:txBody>
      </p:sp>
      <p:sp>
        <p:nvSpPr>
          <p:cNvPr id="608" name="Google Shape;608;p10"/>
          <p:cNvSpPr/>
          <p:nvPr/>
        </p:nvSpPr>
        <p:spPr>
          <a:xfrm>
            <a:off x="9034272" y="2249424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 txBox="1"/>
          <p:nvPr/>
        </p:nvSpPr>
        <p:spPr>
          <a:xfrm>
            <a:off x="9089136" y="22860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→ stations.id  SET NULL</a:t>
            </a:r>
            <a:endParaRPr/>
          </a:p>
        </p:txBody>
      </p:sp>
      <p:sp>
        <p:nvSpPr>
          <p:cNvPr id="610" name="Google Shape;610;p10"/>
          <p:cNvSpPr/>
          <p:nvPr/>
        </p:nvSpPr>
        <p:spPr>
          <a:xfrm>
            <a:off x="6336792" y="2596896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0"/>
          <p:cNvSpPr txBox="1"/>
          <p:nvPr/>
        </p:nvSpPr>
        <p:spPr>
          <a:xfrm>
            <a:off x="6391656" y="26334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/>
          </a:p>
        </p:txBody>
      </p:sp>
      <p:sp>
        <p:nvSpPr>
          <p:cNvPr id="612" name="Google Shape;612;p10"/>
          <p:cNvSpPr/>
          <p:nvPr/>
        </p:nvSpPr>
        <p:spPr>
          <a:xfrm>
            <a:off x="9034272" y="2596896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0"/>
          <p:cNvSpPr txBox="1"/>
          <p:nvPr/>
        </p:nvSpPr>
        <p:spPr>
          <a:xfrm>
            <a:off x="9089136" y="26334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Target city name</a:t>
            </a:r>
            <a:endParaRPr/>
          </a:p>
        </p:txBody>
      </p:sp>
      <p:sp>
        <p:nvSpPr>
          <p:cNvPr id="614" name="Google Shape;614;p10"/>
          <p:cNvSpPr/>
          <p:nvPr/>
        </p:nvSpPr>
        <p:spPr>
          <a:xfrm>
            <a:off x="6336792" y="2944368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0"/>
          <p:cNvSpPr txBox="1"/>
          <p:nvPr/>
        </p:nvSpPr>
        <p:spPr>
          <a:xfrm>
            <a:off x="6391656" y="2980944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/>
          </a:p>
        </p:txBody>
      </p:sp>
      <p:sp>
        <p:nvSpPr>
          <p:cNvPr id="616" name="Google Shape;616;p10"/>
          <p:cNvSpPr/>
          <p:nvPr/>
        </p:nvSpPr>
        <p:spPr>
          <a:xfrm>
            <a:off x="9034272" y="2944368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 txBox="1"/>
          <p:nvPr/>
        </p:nvSpPr>
        <p:spPr>
          <a:xfrm>
            <a:off x="9089136" y="2980944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User-chosen label</a:t>
            </a:r>
            <a:endParaRPr/>
          </a:p>
        </p:txBody>
      </p:sp>
      <p:sp>
        <p:nvSpPr>
          <p:cNvPr id="618" name="Google Shape;618;p10"/>
          <p:cNvSpPr/>
          <p:nvPr/>
        </p:nvSpPr>
        <p:spPr>
          <a:xfrm>
            <a:off x="6336792" y="3291840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"/>
          <p:cNvSpPr txBox="1"/>
          <p:nvPr/>
        </p:nvSpPr>
        <p:spPr>
          <a:xfrm>
            <a:off x="6391656" y="3328416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endParaRPr/>
          </a:p>
        </p:txBody>
      </p:sp>
      <p:sp>
        <p:nvSpPr>
          <p:cNvPr id="620" name="Google Shape;620;p10"/>
          <p:cNvSpPr/>
          <p:nvPr/>
        </p:nvSpPr>
        <p:spPr>
          <a:xfrm>
            <a:off x="9034272" y="3291840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0"/>
          <p:cNvSpPr txBox="1"/>
          <p:nvPr/>
        </p:nvSpPr>
        <p:spPr>
          <a:xfrm>
            <a:off x="9089136" y="3328416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JSONB  array of rules</a:t>
            </a:r>
            <a:endParaRPr/>
          </a:p>
        </p:txBody>
      </p:sp>
      <p:sp>
        <p:nvSpPr>
          <p:cNvPr id="622" name="Google Shape;622;p10"/>
          <p:cNvSpPr/>
          <p:nvPr/>
        </p:nvSpPr>
        <p:spPr>
          <a:xfrm>
            <a:off x="6336792" y="3639312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0"/>
          <p:cNvSpPr txBox="1"/>
          <p:nvPr/>
        </p:nvSpPr>
        <p:spPr>
          <a:xfrm>
            <a:off x="6391656" y="36758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/>
          </a:p>
        </p:txBody>
      </p:sp>
      <p:sp>
        <p:nvSpPr>
          <p:cNvPr id="624" name="Google Shape;624;p10"/>
          <p:cNvSpPr/>
          <p:nvPr/>
        </p:nvSpPr>
        <p:spPr>
          <a:xfrm>
            <a:off x="9034272" y="3639312"/>
            <a:ext cx="2697480" cy="347472"/>
          </a:xfrm>
          <a:prstGeom prst="rect">
            <a:avLst/>
          </a:prstGeom>
          <a:solidFill>
            <a:srgbClr val="182840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"/>
          <p:cNvSpPr txBox="1"/>
          <p:nvPr/>
        </p:nvSpPr>
        <p:spPr>
          <a:xfrm>
            <a:off x="9089136" y="367588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JSONB  — date_range / weekdays / months</a:t>
            </a:r>
            <a:endParaRPr/>
          </a:p>
        </p:txBody>
      </p:sp>
      <p:sp>
        <p:nvSpPr>
          <p:cNvPr id="626" name="Google Shape;626;p10"/>
          <p:cNvSpPr/>
          <p:nvPr/>
        </p:nvSpPr>
        <p:spPr>
          <a:xfrm>
            <a:off x="6336792" y="3986784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0"/>
          <p:cNvSpPr txBox="1"/>
          <p:nvPr/>
        </p:nvSpPr>
        <p:spPr>
          <a:xfrm>
            <a:off x="6391656" y="402336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/>
          </a:p>
        </p:txBody>
      </p:sp>
      <p:sp>
        <p:nvSpPr>
          <p:cNvPr id="628" name="Google Shape;628;p10"/>
          <p:cNvSpPr/>
          <p:nvPr/>
        </p:nvSpPr>
        <p:spPr>
          <a:xfrm>
            <a:off x="9034272" y="3986784"/>
            <a:ext cx="2697480" cy="347472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0"/>
          <p:cNvSpPr txBox="1"/>
          <p:nvPr/>
        </p:nvSpPr>
        <p:spPr>
          <a:xfrm>
            <a:off x="9089136" y="402336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Enable / disable toggle</a:t>
            </a:r>
            <a:endParaRPr/>
          </a:p>
        </p:txBody>
      </p:sp>
      <p:sp>
        <p:nvSpPr>
          <p:cNvPr id="630" name="Google Shape;630;p10"/>
          <p:cNvSpPr/>
          <p:nvPr/>
        </p:nvSpPr>
        <p:spPr>
          <a:xfrm>
            <a:off x="457200" y="4846320"/>
            <a:ext cx="11274552" cy="169164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 txBox="1"/>
          <p:nvPr/>
        </p:nvSpPr>
        <p:spPr>
          <a:xfrm>
            <a:off x="594360" y="4937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weather_alerts</a:t>
            </a:r>
            <a:endParaRPr/>
          </a:p>
        </p:txBody>
      </p:sp>
      <p:sp>
        <p:nvSpPr>
          <p:cNvPr id="632" name="Google Shape;632;p10"/>
          <p:cNvSpPr txBox="1"/>
          <p:nvPr/>
        </p:nvSpPr>
        <p:spPr>
          <a:xfrm>
            <a:off x="594360" y="52852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alert_name:</a:t>
            </a:r>
            <a:endParaRPr/>
          </a:p>
        </p:txBody>
      </p:sp>
      <p:sp>
        <p:nvSpPr>
          <p:cNvPr id="633" name="Google Shape;633;p10"/>
          <p:cNvSpPr txBox="1"/>
          <p:nvPr/>
        </p:nvSpPr>
        <p:spPr>
          <a:xfrm>
            <a:off x="2011680" y="5285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From YAML config</a:t>
            </a:r>
            <a:endParaRPr/>
          </a:p>
        </p:txBody>
      </p:sp>
      <p:sp>
        <p:nvSpPr>
          <p:cNvPr id="634" name="Google Shape;634;p10"/>
          <p:cNvSpPr txBox="1"/>
          <p:nvPr/>
        </p:nvSpPr>
        <p:spPr>
          <a:xfrm>
            <a:off x="4251960" y="52852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severity:</a:t>
            </a:r>
            <a:endParaRPr/>
          </a:p>
        </p:txBody>
      </p:sp>
      <p:sp>
        <p:nvSpPr>
          <p:cNvPr id="635" name="Google Shape;635;p10"/>
          <p:cNvSpPr txBox="1"/>
          <p:nvPr/>
        </p:nvSpPr>
        <p:spPr>
          <a:xfrm>
            <a:off x="5669280" y="5285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info / warning / danger</a:t>
            </a:r>
            <a:endParaRPr/>
          </a:p>
        </p:txBody>
      </p:sp>
      <p:sp>
        <p:nvSpPr>
          <p:cNvPr id="636" name="Google Shape;636;p10"/>
          <p:cNvSpPr txBox="1"/>
          <p:nvPr/>
        </p:nvSpPr>
        <p:spPr>
          <a:xfrm>
            <a:off x="7909560" y="52852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message:</a:t>
            </a:r>
            <a:endParaRPr/>
          </a:p>
        </p:txBody>
      </p:sp>
      <p:sp>
        <p:nvSpPr>
          <p:cNvPr id="637" name="Google Shape;637;p10"/>
          <p:cNvSpPr txBox="1"/>
          <p:nvPr/>
        </p:nvSpPr>
        <p:spPr>
          <a:xfrm>
            <a:off x="9326880" y="52852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Human-readable description</a:t>
            </a:r>
            <a:endParaRPr/>
          </a:p>
        </p:txBody>
      </p:sp>
      <p:sp>
        <p:nvSpPr>
          <p:cNvPr id="638" name="Google Shape;638;p10"/>
          <p:cNvSpPr txBox="1"/>
          <p:nvPr/>
        </p:nvSpPr>
        <p:spPr>
          <a:xfrm>
            <a:off x="594360" y="5669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condition_met:</a:t>
            </a:r>
            <a:endParaRPr/>
          </a:p>
        </p:txBody>
      </p:sp>
      <p:sp>
        <p:nvSpPr>
          <p:cNvPr id="639" name="Google Shape;639;p10"/>
          <p:cNvSpPr txBox="1"/>
          <p:nvPr/>
        </p:nvSpPr>
        <p:spPr>
          <a:xfrm>
            <a:off x="2011680" y="5669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JSONB — value + threshold snapshot</a:t>
            </a:r>
            <a:endParaRPr/>
          </a:p>
        </p:txBody>
      </p:sp>
      <p:sp>
        <p:nvSpPr>
          <p:cNvPr id="640" name="Google Shape;640;p10"/>
          <p:cNvSpPr txBox="1"/>
          <p:nvPr/>
        </p:nvSpPr>
        <p:spPr>
          <a:xfrm>
            <a:off x="4251960" y="56692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is_active:</a:t>
            </a:r>
            <a:endParaRPr/>
          </a:p>
        </p:txBody>
      </p:sp>
      <p:sp>
        <p:nvSpPr>
          <p:cNvPr id="641" name="Google Shape;641;p10"/>
          <p:cNvSpPr txBox="1"/>
          <p:nvPr/>
        </p:nvSpPr>
        <p:spPr>
          <a:xfrm>
            <a:off x="5669280" y="5669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Only latest pipeline run = true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647" name="Google Shape;647;p11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Warning Pipeline</a:t>
            </a:r>
            <a:endParaRPr/>
          </a:p>
        </p:txBody>
      </p:sp>
      <p:sp>
        <p:nvSpPr>
          <p:cNvPr id="648" name="Google Shape;648;p11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1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Users configure custom alert rules — the second Airflow DAG checks them hourly and sends email notifications.</a:t>
            </a:r>
            <a:endParaRPr/>
          </a:p>
        </p:txBody>
      </p:sp>
      <p:sp>
        <p:nvSpPr>
          <p:cNvPr id="650" name="Google Shape;650;p11"/>
          <p:cNvSpPr/>
          <p:nvPr/>
        </p:nvSpPr>
        <p:spPr>
          <a:xfrm>
            <a:off x="2619756" y="1691640"/>
            <a:ext cx="1097280" cy="6400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1"/>
          <p:cNvSpPr txBox="1"/>
          <p:nvPr/>
        </p:nvSpPr>
        <p:spPr>
          <a:xfrm>
            <a:off x="2619756" y="17190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🖱️</a:t>
            </a:r>
            <a:endParaRPr/>
          </a:p>
        </p:txBody>
      </p:sp>
      <p:sp>
        <p:nvSpPr>
          <p:cNvPr id="652" name="Google Shape;652;p11"/>
          <p:cNvSpPr txBox="1"/>
          <p:nvPr/>
        </p:nvSpPr>
        <p:spPr>
          <a:xfrm>
            <a:off x="2619756" y="202082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 creates</a:t>
            </a:r>
            <a:b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warning in UI</a:t>
            </a:r>
            <a:endParaRPr/>
          </a:p>
        </p:txBody>
      </p:sp>
      <p:sp>
        <p:nvSpPr>
          <p:cNvPr id="653" name="Google Shape;653;p11"/>
          <p:cNvSpPr txBox="1"/>
          <p:nvPr/>
        </p:nvSpPr>
        <p:spPr>
          <a:xfrm>
            <a:off x="3717036" y="1874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654" name="Google Shape;654;p11"/>
          <p:cNvSpPr/>
          <p:nvPr/>
        </p:nvSpPr>
        <p:spPr>
          <a:xfrm>
            <a:off x="4082796" y="1691640"/>
            <a:ext cx="1097280" cy="6400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1"/>
          <p:cNvSpPr txBox="1"/>
          <p:nvPr/>
        </p:nvSpPr>
        <p:spPr>
          <a:xfrm>
            <a:off x="4082796" y="17190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/>
          </a:p>
        </p:txBody>
      </p:sp>
      <p:sp>
        <p:nvSpPr>
          <p:cNvPr id="656" name="Google Shape;656;p11"/>
          <p:cNvSpPr txBox="1"/>
          <p:nvPr/>
        </p:nvSpPr>
        <p:spPr>
          <a:xfrm>
            <a:off x="4082796" y="202082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Stored as JSONB</a:t>
            </a:r>
            <a:b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 warnings table</a:t>
            </a:r>
            <a:endParaRPr/>
          </a:p>
        </p:txBody>
      </p:sp>
      <p:sp>
        <p:nvSpPr>
          <p:cNvPr id="657" name="Google Shape;657;p11"/>
          <p:cNvSpPr txBox="1"/>
          <p:nvPr/>
        </p:nvSpPr>
        <p:spPr>
          <a:xfrm>
            <a:off x="5180076" y="1874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658" name="Google Shape;658;p11"/>
          <p:cNvSpPr/>
          <p:nvPr/>
        </p:nvSpPr>
        <p:spPr>
          <a:xfrm>
            <a:off x="5545836" y="1691640"/>
            <a:ext cx="1097280" cy="6400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1"/>
          <p:cNvSpPr txBox="1"/>
          <p:nvPr/>
        </p:nvSpPr>
        <p:spPr>
          <a:xfrm>
            <a:off x="5545836" y="17190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/>
          </a:p>
        </p:txBody>
      </p:sp>
      <p:sp>
        <p:nvSpPr>
          <p:cNvPr id="660" name="Google Shape;660;p11"/>
          <p:cNvSpPr txBox="1"/>
          <p:nvPr/>
        </p:nvSpPr>
        <p:spPr>
          <a:xfrm>
            <a:off x="5545836" y="202082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Airflow DAG</a:t>
            </a:r>
            <a:b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runs every hour</a:t>
            </a:r>
            <a:endParaRPr/>
          </a:p>
        </p:txBody>
      </p:sp>
      <p:sp>
        <p:nvSpPr>
          <p:cNvPr id="661" name="Google Shape;661;p11"/>
          <p:cNvSpPr txBox="1"/>
          <p:nvPr/>
        </p:nvSpPr>
        <p:spPr>
          <a:xfrm>
            <a:off x="6643116" y="1874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662" name="Google Shape;662;p11"/>
          <p:cNvSpPr/>
          <p:nvPr/>
        </p:nvSpPr>
        <p:spPr>
          <a:xfrm>
            <a:off x="7008876" y="1691640"/>
            <a:ext cx="1097280" cy="6400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 txBox="1"/>
          <p:nvPr/>
        </p:nvSpPr>
        <p:spPr>
          <a:xfrm>
            <a:off x="7008876" y="17190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/>
          </a:p>
        </p:txBody>
      </p:sp>
      <p:sp>
        <p:nvSpPr>
          <p:cNvPr id="664" name="Google Shape;664;p11"/>
          <p:cNvSpPr txBox="1"/>
          <p:nvPr/>
        </p:nvSpPr>
        <p:spPr>
          <a:xfrm>
            <a:off x="7008876" y="202082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Conditions checked</a:t>
            </a:r>
            <a:b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vs. weather_daily</a:t>
            </a:r>
            <a:endParaRPr/>
          </a:p>
        </p:txBody>
      </p:sp>
      <p:sp>
        <p:nvSpPr>
          <p:cNvPr id="665" name="Google Shape;665;p11"/>
          <p:cNvSpPr txBox="1"/>
          <p:nvPr/>
        </p:nvSpPr>
        <p:spPr>
          <a:xfrm>
            <a:off x="8106156" y="1874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666" name="Google Shape;666;p11"/>
          <p:cNvSpPr/>
          <p:nvPr/>
        </p:nvSpPr>
        <p:spPr>
          <a:xfrm>
            <a:off x="8471916" y="1691640"/>
            <a:ext cx="1097280" cy="6400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1"/>
          <p:cNvSpPr txBox="1"/>
          <p:nvPr/>
        </p:nvSpPr>
        <p:spPr>
          <a:xfrm>
            <a:off x="8471916" y="17190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/>
          </a:p>
        </p:txBody>
      </p:sp>
      <p:sp>
        <p:nvSpPr>
          <p:cNvPr id="668" name="Google Shape;668;p11"/>
          <p:cNvSpPr txBox="1"/>
          <p:nvPr/>
        </p:nvSpPr>
        <p:spPr>
          <a:xfrm>
            <a:off x="8471916" y="202082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Email sent</a:t>
            </a:r>
            <a:b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via SMTP</a:t>
            </a:r>
            <a:endParaRPr/>
          </a:p>
        </p:txBody>
      </p:sp>
      <p:sp>
        <p:nvSpPr>
          <p:cNvPr id="669" name="Google Shape;669;p11"/>
          <p:cNvSpPr/>
          <p:nvPr/>
        </p:nvSpPr>
        <p:spPr>
          <a:xfrm>
            <a:off x="457200" y="2743200"/>
            <a:ext cx="5394960" cy="32004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 txBox="1"/>
          <p:nvPr/>
        </p:nvSpPr>
        <p:spPr>
          <a:xfrm>
            <a:off x="594360" y="2834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Condition Types</a:t>
            </a:r>
            <a:endParaRPr/>
          </a:p>
        </p:txBody>
      </p:sp>
      <p:sp>
        <p:nvSpPr>
          <p:cNvPr id="671" name="Google Shape;671;p11"/>
          <p:cNvSpPr txBox="1"/>
          <p:nvPr/>
        </p:nvSpPr>
        <p:spPr>
          <a:xfrm>
            <a:off x="640080" y="32186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Parameters: temp max/min, precipitation, snowfall,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wind, gusts, UV index</a:t>
            </a:r>
            <a:endParaRPr/>
          </a:p>
        </p:txBody>
      </p:sp>
      <p:sp>
        <p:nvSpPr>
          <p:cNvPr id="672" name="Google Shape;672;p11"/>
          <p:cNvSpPr txBox="1"/>
          <p:nvPr/>
        </p:nvSpPr>
        <p:spPr>
          <a:xfrm>
            <a:off x="640080" y="35478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Comparators: &gt; &gt;= &lt; &lt;= ==</a:t>
            </a:r>
            <a:endParaRPr/>
          </a:p>
        </p:txBody>
      </p:sp>
      <p:sp>
        <p:nvSpPr>
          <p:cNvPr id="673" name="Google Shape;673;p11"/>
          <p:cNvSpPr txBox="1"/>
          <p:nvPr/>
        </p:nvSpPr>
        <p:spPr>
          <a:xfrm>
            <a:off x="640080" y="387705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Logic: AND across all conditions in a rule</a:t>
            </a:r>
            <a:endParaRPr/>
          </a:p>
        </p:txBody>
      </p:sp>
      <p:sp>
        <p:nvSpPr>
          <p:cNvPr id="674" name="Google Shape;674;p11"/>
          <p:cNvSpPr txBox="1"/>
          <p:nvPr/>
        </p:nvSpPr>
        <p:spPr>
          <a:xfrm>
            <a:off x="640080" y="42062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1"/>
          <p:cNvSpPr txBox="1"/>
          <p:nvPr/>
        </p:nvSpPr>
        <p:spPr>
          <a:xfrm>
            <a:off x="640080" y="453542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Validity Modes:</a:t>
            </a:r>
            <a:endParaRPr/>
          </a:p>
        </p:txBody>
      </p:sp>
      <p:sp>
        <p:nvSpPr>
          <p:cNvPr id="676" name="Google Shape;676;p11"/>
          <p:cNvSpPr txBox="1"/>
          <p:nvPr/>
        </p:nvSpPr>
        <p:spPr>
          <a:xfrm>
            <a:off x="640080" y="48646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date_range  — from / to specific dates</a:t>
            </a:r>
            <a:endParaRPr/>
          </a:p>
        </p:txBody>
      </p:sp>
      <p:sp>
        <p:nvSpPr>
          <p:cNvPr id="677" name="Google Shape;677;p11"/>
          <p:cNvSpPr txBox="1"/>
          <p:nvPr/>
        </p:nvSpPr>
        <p:spPr>
          <a:xfrm>
            <a:off x="640080" y="519379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weekdays     — e.g. Saturday &amp; Sunday only</a:t>
            </a:r>
            <a:endParaRPr/>
          </a:p>
        </p:txBody>
      </p:sp>
      <p:sp>
        <p:nvSpPr>
          <p:cNvPr id="678" name="Google Shape;678;p11"/>
          <p:cNvSpPr txBox="1"/>
          <p:nvPr/>
        </p:nvSpPr>
        <p:spPr>
          <a:xfrm>
            <a:off x="640080" y="552297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months        — e.g. January &amp; February only</a:t>
            </a:r>
            <a:endParaRPr/>
          </a:p>
        </p:txBody>
      </p:sp>
      <p:sp>
        <p:nvSpPr>
          <p:cNvPr id="679" name="Google Shape;679;p11"/>
          <p:cNvSpPr/>
          <p:nvPr/>
        </p:nvSpPr>
        <p:spPr>
          <a:xfrm>
            <a:off x="6336792" y="2743200"/>
            <a:ext cx="5394960" cy="32004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1"/>
          <p:cNvSpPr txBox="1"/>
          <p:nvPr/>
        </p:nvSpPr>
        <p:spPr>
          <a:xfrm>
            <a:off x="6473952" y="2834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Pre-built Templates</a:t>
            </a:r>
            <a:endParaRPr/>
          </a:p>
        </p:txBody>
      </p:sp>
      <p:sp>
        <p:nvSpPr>
          <p:cNvPr id="681" name="Google Shape;681;p11"/>
          <p:cNvSpPr txBox="1"/>
          <p:nvPr/>
        </p:nvSpPr>
        <p:spPr>
          <a:xfrm>
            <a:off x="6510528" y="321868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🌡️  Heatwave:    temperature_max &gt; 32°C</a:t>
            </a:r>
            <a:endParaRPr/>
          </a:p>
        </p:txBody>
      </p:sp>
      <p:sp>
        <p:nvSpPr>
          <p:cNvPr id="682" name="Google Shape;682;p11"/>
          <p:cNvSpPr txBox="1"/>
          <p:nvPr/>
        </p:nvSpPr>
        <p:spPr>
          <a:xfrm>
            <a:off x="6510528" y="37673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❄️   Frost:          temperature_min &lt; 0°C</a:t>
            </a:r>
            <a:endParaRPr/>
          </a:p>
        </p:txBody>
      </p:sp>
      <p:sp>
        <p:nvSpPr>
          <p:cNvPr id="683" name="Google Shape;683;p11"/>
          <p:cNvSpPr txBox="1"/>
          <p:nvPr/>
        </p:nvSpPr>
        <p:spPr>
          <a:xfrm>
            <a:off x="6510528" y="431596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🌧️  Heavy Rain:  precipitation_sum &gt; 20 mm</a:t>
            </a:r>
            <a:endParaRPr/>
          </a:p>
        </p:txBody>
      </p:sp>
      <p:sp>
        <p:nvSpPr>
          <p:cNvPr id="684" name="Google Shape;684;p11"/>
          <p:cNvSpPr txBox="1"/>
          <p:nvPr/>
        </p:nvSpPr>
        <p:spPr>
          <a:xfrm>
            <a:off x="6510528" y="486460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💨  Storm:          wind_speed_max &gt; 60 km/h</a:t>
            </a:r>
            <a:endParaRPr/>
          </a:p>
        </p:txBody>
      </p:sp>
      <p:sp>
        <p:nvSpPr>
          <p:cNvPr id="685" name="Google Shape;685;p11"/>
          <p:cNvSpPr txBox="1"/>
          <p:nvPr/>
        </p:nvSpPr>
        <p:spPr>
          <a:xfrm>
            <a:off x="6510528" y="541324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🌨️  Snowfall:      snowfall_sum &gt; 10 cm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4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691" name="Google Shape;691;p14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the Numbers</a:t>
            </a:r>
            <a:endParaRPr/>
          </a:p>
        </p:txBody>
      </p:sp>
      <p:sp>
        <p:nvSpPr>
          <p:cNvPr id="692" name="Google Shape;692;p14"/>
          <p:cNvSpPr/>
          <p:nvPr/>
        </p:nvSpPr>
        <p:spPr>
          <a:xfrm>
            <a:off x="457200" y="1115568"/>
            <a:ext cx="11274552" cy="12700"/>
          </a:xfrm>
          <a:prstGeom prst="rect">
            <a:avLst/>
          </a:prstGeom>
          <a:solidFill>
            <a:srgbClr val="2A3F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333756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 txBox="1"/>
          <p:nvPr/>
        </p:nvSpPr>
        <p:spPr>
          <a:xfrm>
            <a:off x="333756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~75</a:t>
            </a:r>
            <a:endParaRPr/>
          </a:p>
        </p:txBody>
      </p:sp>
      <p:sp>
        <p:nvSpPr>
          <p:cNvPr id="695" name="Google Shape;695;p14"/>
          <p:cNvSpPr txBox="1"/>
          <p:nvPr/>
        </p:nvSpPr>
        <p:spPr>
          <a:xfrm>
            <a:off x="333756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Pre-seeded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stations</a:t>
            </a:r>
            <a:endParaRPr/>
          </a:p>
        </p:txBody>
      </p:sp>
      <p:sp>
        <p:nvSpPr>
          <p:cNvPr id="696" name="Google Shape;696;p14"/>
          <p:cNvSpPr/>
          <p:nvPr/>
        </p:nvSpPr>
        <p:spPr>
          <a:xfrm>
            <a:off x="2272284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2272284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98" name="Google Shape;698;p14"/>
          <p:cNvSpPr txBox="1"/>
          <p:nvPr/>
        </p:nvSpPr>
        <p:spPr>
          <a:xfrm>
            <a:off x="2272284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/>
          </a:p>
        </p:txBody>
      </p:sp>
      <p:sp>
        <p:nvSpPr>
          <p:cNvPr id="699" name="Google Shape;699;p14"/>
          <p:cNvSpPr/>
          <p:nvPr/>
        </p:nvSpPr>
        <p:spPr>
          <a:xfrm>
            <a:off x="4210812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 txBox="1"/>
          <p:nvPr/>
        </p:nvSpPr>
        <p:spPr>
          <a:xfrm>
            <a:off x="4210812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175</a:t>
            </a:r>
            <a:endParaRPr/>
          </a:p>
        </p:txBody>
      </p:sp>
      <p:sp>
        <p:nvSpPr>
          <p:cNvPr id="701" name="Google Shape;701;p14"/>
          <p:cNvSpPr txBox="1"/>
          <p:nvPr/>
        </p:nvSpPr>
        <p:spPr>
          <a:xfrm>
            <a:off x="4210812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Rows per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pipeline run</a:t>
            </a:r>
            <a:endParaRPr/>
          </a:p>
        </p:txBody>
      </p:sp>
      <p:sp>
        <p:nvSpPr>
          <p:cNvPr id="702" name="Google Shape;702;p14"/>
          <p:cNvSpPr/>
          <p:nvPr/>
        </p:nvSpPr>
        <p:spPr>
          <a:xfrm>
            <a:off x="6149340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 txBox="1"/>
          <p:nvPr/>
        </p:nvSpPr>
        <p:spPr>
          <a:xfrm>
            <a:off x="6149340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04" name="Google Shape;704;p14"/>
          <p:cNvSpPr txBox="1"/>
          <p:nvPr/>
        </p:nvSpPr>
        <p:spPr>
          <a:xfrm>
            <a:off x="6149340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Airflow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DAGs</a:t>
            </a:r>
            <a:endParaRPr/>
          </a:p>
        </p:txBody>
      </p:sp>
      <p:sp>
        <p:nvSpPr>
          <p:cNvPr id="705" name="Google Shape;705;p14"/>
          <p:cNvSpPr/>
          <p:nvPr/>
        </p:nvSpPr>
        <p:spPr>
          <a:xfrm>
            <a:off x="8087868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 txBox="1"/>
          <p:nvPr/>
        </p:nvSpPr>
        <p:spPr>
          <a:xfrm>
            <a:off x="8087868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707" name="Google Shape;707;p14"/>
          <p:cNvSpPr txBox="1"/>
          <p:nvPr/>
        </p:nvSpPr>
        <p:spPr>
          <a:xfrm>
            <a:off x="8087868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/>
          </a:p>
        </p:txBody>
      </p:sp>
      <p:sp>
        <p:nvSpPr>
          <p:cNvPr id="708" name="Google Shape;708;p14"/>
          <p:cNvSpPr/>
          <p:nvPr/>
        </p:nvSpPr>
        <p:spPr>
          <a:xfrm>
            <a:off x="10026396" y="1371600"/>
            <a:ext cx="1828800" cy="164592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 txBox="1"/>
          <p:nvPr/>
        </p:nvSpPr>
        <p:spPr>
          <a:xfrm>
            <a:off x="10026396" y="1463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10" name="Google Shape;710;p14"/>
          <p:cNvSpPr txBox="1"/>
          <p:nvPr/>
        </p:nvSpPr>
        <p:spPr>
          <a:xfrm>
            <a:off x="10026396" y="221284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b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/>
          </a:p>
        </p:txBody>
      </p:sp>
      <p:sp>
        <p:nvSpPr>
          <p:cNvPr id="711" name="Google Shape;711;p14"/>
          <p:cNvSpPr/>
          <p:nvPr/>
        </p:nvSpPr>
        <p:spPr>
          <a:xfrm>
            <a:off x="457200" y="3246120"/>
            <a:ext cx="11274552" cy="228600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 txBox="1"/>
          <p:nvPr/>
        </p:nvSpPr>
        <p:spPr>
          <a:xfrm>
            <a:off x="640080" y="33832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✅  OWASP security hardening — JWT, bcrypt, non-root container, XSS prevention</a:t>
            </a:r>
            <a:endParaRPr/>
          </a:p>
        </p:txBody>
      </p:sp>
      <p:sp>
        <p:nvSpPr>
          <p:cNvPr id="713" name="Google Shape;713;p14"/>
          <p:cNvSpPr txBox="1"/>
          <p:nvPr/>
        </p:nvSpPr>
        <p:spPr>
          <a:xfrm>
            <a:off x="640080" y="38862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✅  UPSERT pattern — fully idempotent pipeline runs</a:t>
            </a:r>
            <a:endParaRPr/>
          </a:p>
        </p:txBody>
      </p:sp>
      <p:sp>
        <p:nvSpPr>
          <p:cNvPr id="714" name="Google Shape;714;p14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✅  JSONB conditions — flexible warning rules without schema migrations</a:t>
            </a:r>
            <a:endParaRPr/>
          </a:p>
        </p:txBody>
      </p:sp>
      <p:sp>
        <p:nvSpPr>
          <p:cNvPr id="715" name="Google Shape;715;p14"/>
          <p:cNvSpPr txBox="1"/>
          <p:nvPr/>
        </p:nvSpPr>
        <p:spPr>
          <a:xfrm>
            <a:off x="640080" y="4892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✅  YAML alert config — threshold changes without code redeploy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424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5"/>
          <p:cNvSpPr txBox="1"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722" name="Google Shape;722;p15"/>
          <p:cNvSpPr txBox="1"/>
          <p:nvPr/>
        </p:nvSpPr>
        <p:spPr>
          <a:xfrm>
            <a:off x="914400" y="251460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Weather ETL — Capstone Project</a:t>
            </a:r>
            <a:endParaRPr/>
          </a:p>
        </p:txBody>
      </p:sp>
      <p:sp>
        <p:nvSpPr>
          <p:cNvPr id="723" name="Google Shape;723;p15"/>
          <p:cNvSpPr/>
          <p:nvPr/>
        </p:nvSpPr>
        <p:spPr>
          <a:xfrm>
            <a:off x="1975104" y="3200400"/>
            <a:ext cx="4114800" cy="10972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 txBox="1"/>
          <p:nvPr/>
        </p:nvSpPr>
        <p:spPr>
          <a:xfrm>
            <a:off x="1975104" y="33101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💻  GitHub</a:t>
            </a:r>
            <a:endParaRPr/>
          </a:p>
        </p:txBody>
      </p:sp>
      <p:sp>
        <p:nvSpPr>
          <p:cNvPr id="725" name="Google Shape;725;p15"/>
          <p:cNvSpPr txBox="1"/>
          <p:nvPr/>
        </p:nvSpPr>
        <p:spPr>
          <a:xfrm>
            <a:off x="1975104" y="3703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github.com/ml271/weather_etl</a:t>
            </a:r>
            <a:endParaRPr/>
          </a:p>
        </p:txBody>
      </p:sp>
      <p:sp>
        <p:nvSpPr>
          <p:cNvPr id="726" name="Google Shape;726;p15"/>
          <p:cNvSpPr/>
          <p:nvPr/>
        </p:nvSpPr>
        <p:spPr>
          <a:xfrm>
            <a:off x="6547104" y="3200400"/>
            <a:ext cx="4114800" cy="109728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5"/>
          <p:cNvSpPr txBox="1"/>
          <p:nvPr/>
        </p:nvSpPr>
        <p:spPr>
          <a:xfrm>
            <a:off x="6547104" y="33101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Stack</a:t>
            </a:r>
            <a:endParaRPr/>
          </a:p>
        </p:txBody>
      </p:sp>
      <p:sp>
        <p:nvSpPr>
          <p:cNvPr id="728" name="Google Shape;728;p15"/>
          <p:cNvSpPr txBox="1"/>
          <p:nvPr/>
        </p:nvSpPr>
        <p:spPr>
          <a:xfrm>
            <a:off x="6547104" y="3703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Airflow · PostgreSQL · FastAPI · Docker · Nginx</a:t>
            </a: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3200400" y="4572000"/>
            <a:ext cx="5788152" cy="1005840"/>
          </a:xfrm>
          <a:prstGeom prst="rect">
            <a:avLst/>
          </a:prstGeom>
          <a:solidFill>
            <a:srgbClr val="1E2D4A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 txBox="1"/>
          <p:nvPr/>
        </p:nvSpPr>
        <p:spPr>
          <a:xfrm>
            <a:off x="3200400" y="4681728"/>
            <a:ext cx="57881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Marvin Lorff</a:t>
            </a:r>
            <a:endParaRPr/>
          </a:p>
        </p:txBody>
      </p:sp>
      <p:sp>
        <p:nvSpPr>
          <p:cNvPr id="731" name="Google Shape;731;p15"/>
          <p:cNvSpPr txBox="1"/>
          <p:nvPr/>
        </p:nvSpPr>
        <p:spPr>
          <a:xfrm>
            <a:off x="3200400" y="5047488"/>
            <a:ext cx="5788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neuefische · Data Engineering Bootcamp · Capstone Project · March 2026</a:t>
            </a:r>
            <a:endParaRPr/>
          </a:p>
        </p:txBody>
      </p:sp>
      <p:sp>
        <p:nvSpPr>
          <p:cNvPr id="732" name="Google Shape;732;p15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1C78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